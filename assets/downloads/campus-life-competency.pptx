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549"/>
    <p:restoredTop sz="94610"/>
  </p:normalViewPr>
  <p:slideViewPr>
    <p:cSldViewPr snapToGrid="0" snapToObjects="1">
      <p:cViewPr>
        <p:scale>
          <a:sx n="78" d="100"/>
          <a:sy n="78" d="100"/>
        </p:scale>
        <p:origin x="55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67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58384"/>
            <a:ext cx="12191695" cy="1499616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298448" cy="91440"/>
          </a:xfrm>
          <a:prstGeom prst="rect">
            <a:avLst/>
          </a:prstGeom>
          <a:solidFill>
            <a:srgbClr val="D23B45"/>
          </a:solidFill>
          <a:ln w="12700">
            <a:solidFill>
              <a:srgbClr val="D23B4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607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PMU Competency Engagement Transcript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8869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DE5EE"/>
                </a:solidFill>
              </a:rPr>
              <a:t>Measuring Engagement Through Observable Behavior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8961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Campus Life Best Practice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3529584"/>
            <a:ext cx="9692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5EE"/>
                </a:solidFill>
              </a:rPr>
              <a:t>Student-centered | Behavior-based | Data-informed | Transcript-ready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5897880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Department of Campus Life — Prince Mohammad Bin Fahd University</a:t>
            </a:r>
            <a:endParaRPr lang="en-US" sz="1200" dirty="0"/>
          </a:p>
        </p:txBody>
      </p:sp>
      <p:pic>
        <p:nvPicPr>
          <p:cNvPr id="12" name="Picture 11" descr="A logo with a sun and text&#10;&#10;AI-generated content may be incorrect.">
            <a:extLst>
              <a:ext uri="{FF2B5EF4-FFF2-40B4-BE49-F238E27FC236}">
                <a16:creationId xmlns:a16="http://schemas.microsoft.com/office/drawing/2014/main" id="{218A4723-B8E1-1C28-1B5F-B6D9CA9B3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896" y="203454"/>
            <a:ext cx="1732788" cy="17327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Starting Point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2940" y="1399033"/>
            <a:ext cx="107899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D2633"/>
                </a:solidFill>
              </a:rPr>
              <a:t>Campus Life already creates valuable learning opportunities, but traditional participation records often show only attendance.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07899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Attendance ≠ Development. </a:t>
            </a:r>
            <a:r>
              <a:rPr lang="en-US" dirty="0">
                <a:solidFill>
                  <a:srgbClr val="1D2633"/>
                </a:solidFill>
              </a:rPr>
              <a:t>Being present does not explain what a student actually did or practiced.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Hidden learning. </a:t>
            </a:r>
            <a:r>
              <a:rPr lang="en-US" dirty="0">
                <a:solidFill>
                  <a:srgbClr val="1D2633"/>
                </a:solidFill>
              </a:rPr>
              <a:t>Teamwork, leadership, communication, problem solving, and service behaviors may happen without being documented.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Limited evidence. </a:t>
            </a:r>
            <a:r>
              <a:rPr lang="en-US" dirty="0">
                <a:solidFill>
                  <a:srgbClr val="1D2633"/>
                </a:solidFill>
              </a:rPr>
              <a:t>Student Affairs needs clearer data to show the developmental value of activities.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Fragmented recognition. </a:t>
            </a:r>
            <a:r>
              <a:rPr lang="en-US" dirty="0">
                <a:solidFill>
                  <a:srgbClr val="1D2633"/>
                </a:solidFill>
              </a:rPr>
              <a:t>Students may participate deeply, but their contribution is not always visible in a structured record.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4360" y="5349240"/>
            <a:ext cx="10972800" cy="50292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822960" y="545896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Core question: How can Campus Life measure engagement through observable behavior, not only attendance?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02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PMU Created the Competency Exposure System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2633"/>
                </a:solidFill>
              </a:rPr>
              <a:t>To translate participation into structured evidence of competency exposure over time.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2057400"/>
            <a:ext cx="2423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59536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</a:rPr>
              <a:t>1. Make learning visible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" y="2807208"/>
            <a:ext cx="2048256" cy="0"/>
          </a:xfrm>
          <a:prstGeom prst="line">
            <a:avLst/>
          </a:prstGeom>
          <a:noFill/>
          <a:ln w="1651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859536" y="3063240"/>
            <a:ext cx="21031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633"/>
                </a:solidFill>
              </a:rPr>
              <a:t>Capture what students do during events and activities.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02152" y="2057400"/>
            <a:ext cx="2423160" cy="2148840"/>
          </a:xfrm>
          <a:prstGeom prst="rect">
            <a:avLst/>
          </a:prstGeom>
          <a:solidFill>
            <a:srgbClr val="EEF3F7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648456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</a:rPr>
              <a:t>2. Reduce subjectivity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48456" y="2807208"/>
            <a:ext cx="2048256" cy="0"/>
          </a:xfrm>
          <a:prstGeom prst="line">
            <a:avLst/>
          </a:prstGeom>
          <a:noFill/>
          <a:ln w="1651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648456" y="3063240"/>
            <a:ext cx="21031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633"/>
                </a:solidFill>
              </a:rPr>
              <a:t>Use system-defined mapping instead of asking students to claim competencies.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2057400"/>
            <a:ext cx="2423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6437376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</a:rPr>
              <a:t>3. Track growth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37376" y="2807208"/>
            <a:ext cx="2048256" cy="0"/>
          </a:xfrm>
          <a:prstGeom prst="line">
            <a:avLst/>
          </a:prstGeom>
          <a:noFill/>
          <a:ln w="1651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6437376" y="3063240"/>
            <a:ext cx="21031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633"/>
                </a:solidFill>
              </a:rPr>
              <a:t>Accumulate points across activities to show patterns over time.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79992" y="2057400"/>
            <a:ext cx="2423160" cy="2148840"/>
          </a:xfrm>
          <a:prstGeom prst="rect">
            <a:avLst/>
          </a:prstGeom>
          <a:solidFill>
            <a:srgbClr val="EEF3F7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9226296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</a:rPr>
              <a:t>4. Improve programs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26296" y="2807208"/>
            <a:ext cx="2048256" cy="0"/>
          </a:xfrm>
          <a:prstGeom prst="line">
            <a:avLst/>
          </a:prstGeom>
          <a:noFill/>
          <a:ln w="1651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9226296" y="3063240"/>
            <a:ext cx="21031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633"/>
                </a:solidFill>
              </a:rPr>
              <a:t>Identify which competencies Campus Life activities are actually developing.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257800"/>
            <a:ext cx="10972800" cy="50292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822960" y="536752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From counting attendance to documenting meaningful student development.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03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Model Measures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10698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633"/>
                </a:solidFill>
              </a:rPr>
              <a:t>The system measures competency exposure by recording structured behaviors after each activity.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7512" y="2304288"/>
            <a:ext cx="1828800" cy="1024128"/>
          </a:xfrm>
          <a:prstGeom prst="chevron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41248" y="25420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Measures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8414" y="2833211"/>
            <a:ext cx="12590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5EE"/>
                </a:solidFill>
              </a:rPr>
              <a:t>what students 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2331720"/>
            <a:ext cx="1828800" cy="1024128"/>
          </a:xfrm>
          <a:prstGeom prst="chevron">
            <a:avLst/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3081528" y="25420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27978" y="2816352"/>
            <a:ext cx="12926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5EE"/>
                </a:solidFill>
              </a:rPr>
              <a:t>structured behavior questions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2331720"/>
            <a:ext cx="1828800" cy="1024128"/>
          </a:xfrm>
          <a:prstGeom prst="chevron">
            <a:avLst/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321808" y="25420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27573" y="2843784"/>
            <a:ext cx="1075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5EE"/>
                </a:solidFill>
              </a:rPr>
              <a:t>behavior to competencies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52360" y="2331720"/>
            <a:ext cx="1828800" cy="1024128"/>
          </a:xfrm>
          <a:prstGeom prst="chevron">
            <a:avLst/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7562088" y="25420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23718" y="2852928"/>
            <a:ext cx="9175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5EE"/>
                </a:solidFill>
              </a:rPr>
              <a:t>exposure over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92640" y="2331720"/>
            <a:ext cx="1828800" cy="1024128"/>
          </a:xfrm>
          <a:prstGeom prst="chevron">
            <a:avLst/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9802368" y="25420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56139" y="2798064"/>
            <a:ext cx="10275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5EE"/>
                </a:solidFill>
              </a:rPr>
              <a:t>a transcript profile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202A"/>
                </a:solidFill>
              </a:rPr>
              <a:t>Key principle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62272"/>
            <a:ext cx="10149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</a:rPr>
              <a:t>Students report behaviors in a structured way. The system translates those behaviors into competency exposure points.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04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572768" cy="1188720"/>
          </a:xfrm>
          <a:prstGeom prst="rect">
            <a:avLst/>
          </a:prstGeom>
          <a:solidFill>
            <a:srgbClr val="EEF3F7"/>
          </a:solidFill>
          <a:ln w="12700">
            <a:solidFill>
              <a:srgbClr val="C8D1D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704088" y="173736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</a:rPr>
              <a:t>Event created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" y="2093976"/>
            <a:ext cx="1170432" cy="0"/>
          </a:xfrm>
          <a:prstGeom prst="line">
            <a:avLst/>
          </a:prstGeom>
          <a:noFill/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722376" y="22677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D2633"/>
                </a:solidFill>
              </a:rPr>
              <a:t>Tagged with 2 targeted competencies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 rot="5400000">
            <a:off x="2221992" y="2048256"/>
            <a:ext cx="182880" cy="201168"/>
          </a:xfrm>
          <a:prstGeom prst="triangle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Shape 10"/>
          <p:cNvSpPr/>
          <p:nvPr/>
        </p:nvSpPr>
        <p:spPr>
          <a:xfrm>
            <a:off x="2496312" y="15727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1D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606040" y="173736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</a:rPr>
              <a:t>Student attends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2093976"/>
            <a:ext cx="1170432" cy="0"/>
          </a:xfrm>
          <a:prstGeom prst="line">
            <a:avLst/>
          </a:prstGeom>
          <a:noFill/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2624328" y="22677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D2633"/>
                </a:solidFill>
              </a:rPr>
              <a:t>Participates in the activity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 rot="5400000">
            <a:off x="4123944" y="2048256"/>
            <a:ext cx="182880" cy="201168"/>
          </a:xfrm>
          <a:prstGeom prst="triangle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4398264" y="1572768"/>
            <a:ext cx="1572768" cy="1188720"/>
          </a:xfrm>
          <a:prstGeom prst="rect">
            <a:avLst/>
          </a:prstGeom>
          <a:solidFill>
            <a:srgbClr val="EEF3F7"/>
          </a:solidFill>
          <a:ln w="12700">
            <a:solidFill>
              <a:srgbClr val="C8D1D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4507992" y="173736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</a:rPr>
              <a:t>Check-out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99432" y="2093976"/>
            <a:ext cx="1170432" cy="0"/>
          </a:xfrm>
          <a:prstGeom prst="line">
            <a:avLst/>
          </a:prstGeom>
          <a:noFill/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4526280" y="22677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D2633"/>
                </a:solidFill>
              </a:rPr>
              <a:t>Completes reflection and behavior questions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 rot="5400000">
            <a:off x="6025896" y="2048256"/>
            <a:ext cx="182880" cy="201168"/>
          </a:xfrm>
          <a:prstGeom prst="triangle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6300216" y="15727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1D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6409944" y="173736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</a:rPr>
              <a:t>System maps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01384" y="2093976"/>
            <a:ext cx="1170432" cy="0"/>
          </a:xfrm>
          <a:prstGeom prst="line">
            <a:avLst/>
          </a:prstGeom>
          <a:noFill/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6428232" y="22677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D2633"/>
                </a:solidFill>
              </a:rPr>
              <a:t>Behavior translates into points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 rot="5400000">
            <a:off x="7927848" y="2048256"/>
            <a:ext cx="182880" cy="201168"/>
          </a:xfrm>
          <a:prstGeom prst="triangle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Shape 25"/>
          <p:cNvSpPr/>
          <p:nvPr/>
        </p:nvSpPr>
        <p:spPr>
          <a:xfrm>
            <a:off x="8202168" y="1572768"/>
            <a:ext cx="1572768" cy="1188720"/>
          </a:xfrm>
          <a:prstGeom prst="rect">
            <a:avLst/>
          </a:prstGeom>
          <a:solidFill>
            <a:srgbClr val="EEF3F7"/>
          </a:solidFill>
          <a:ln w="12700">
            <a:solidFill>
              <a:srgbClr val="C8D1D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8311896" y="173736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</a:rPr>
              <a:t>Filtering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03336" y="2093976"/>
            <a:ext cx="1170432" cy="0"/>
          </a:xfrm>
          <a:prstGeom prst="line">
            <a:avLst/>
          </a:prstGeom>
          <a:noFill/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8330184" y="22677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D2633"/>
                </a:solidFill>
              </a:rPr>
              <a:t>Only targeted competencies are selected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 rot="5400000">
            <a:off x="9829800" y="2048256"/>
            <a:ext cx="182880" cy="201168"/>
          </a:xfrm>
          <a:prstGeom prst="triangle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2" name="Shape 30"/>
          <p:cNvSpPr/>
          <p:nvPr/>
        </p:nvSpPr>
        <p:spPr>
          <a:xfrm>
            <a:off x="10104120" y="1572768"/>
            <a:ext cx="15727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1D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10213848" y="173736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</a:rPr>
              <a:t>Transcript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305288" y="2093976"/>
            <a:ext cx="1170432" cy="0"/>
          </a:xfrm>
          <a:prstGeom prst="line">
            <a:avLst/>
          </a:prstGeom>
          <a:noFill/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10232136" y="22677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D2633"/>
                </a:solidFill>
              </a:rPr>
              <a:t>Profile accumulates over time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777240" y="3657600"/>
            <a:ext cx="10607040" cy="114300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1005840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filtering matters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05840" y="42245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DE5EE"/>
                </a:solidFill>
              </a:rPr>
              <a:t>Because every behavior can relate to several competencies, event-level tagging prevents point inflation by focusing the transcript on the competencies intentionally targeted by the activity.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05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11292840" y="1188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of Measurement: Competency Points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633"/>
                </a:solidFill>
              </a:rPr>
              <a:t>Competency points are units of exposure. They quantify how much a student engages in behaviors related to specific competencies.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4572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202A"/>
                </a:solidFill>
              </a:rPr>
              <a:t>+2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2606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</a:rPr>
              <a:t>Directly demonstrated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999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633"/>
                </a:solidFill>
              </a:rPr>
              <a:t>The behavior clearly shows the competency as a primary action.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2240280"/>
            <a:ext cx="4572000" cy="1920240"/>
          </a:xfrm>
          <a:prstGeom prst="rect">
            <a:avLst/>
          </a:prstGeom>
          <a:solidFill>
            <a:srgbClr val="EEF3F7"/>
          </a:solidFill>
          <a:ln w="12700">
            <a:solidFill>
              <a:srgbClr val="C8D1D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6949440" y="2578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243E"/>
                </a:solidFill>
              </a:rPr>
              <a:t>+1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412480" y="2606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</a:rPr>
              <a:t>Supporting / indirect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999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633"/>
                </a:solidFill>
              </a:rPr>
              <a:t>The behavior supports the competency but is not the main action.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257800"/>
            <a:ext cx="10972800" cy="50292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822960" y="536752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score is not a grade. It is a structured signal of exposure and engagement intensity.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06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Theoretical Foundation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1074420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Behavioral measurement: </a:t>
            </a:r>
            <a:r>
              <a:rPr lang="en-US" dirty="0">
                <a:solidFill>
                  <a:srgbClr val="1D2633"/>
                </a:solidFill>
              </a:rPr>
              <a:t>Captures observable actions, roles, and contributions as indicators of engagement.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Kolb’s experiential learning: </a:t>
            </a:r>
            <a:r>
              <a:rPr lang="en-US" dirty="0">
                <a:solidFill>
                  <a:srgbClr val="1D2633"/>
                </a:solidFill>
              </a:rPr>
              <a:t>Connects concrete experience with reflection and meaning-making.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Student engagement theory: </a:t>
            </a:r>
            <a:r>
              <a:rPr lang="en-US" dirty="0">
                <a:solidFill>
                  <a:srgbClr val="1D2633"/>
                </a:solidFill>
              </a:rPr>
              <a:t>Focuses on behavioral engagement, supported by cognitive and emotional reflection.</a:t>
            </a:r>
          </a:p>
          <a:p>
            <a:pPr marL="0" indent="0">
              <a:buNone/>
            </a:pPr>
            <a:endParaRPr lang="en-US" b="1" dirty="0">
              <a:solidFill>
                <a:srgbClr val="1D2633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Structured self-report: </a:t>
            </a:r>
            <a:r>
              <a:rPr lang="en-US" dirty="0">
                <a:solidFill>
                  <a:srgbClr val="1D2633"/>
                </a:solidFill>
              </a:rPr>
              <a:t>Uses predefined categories to create consistency and reduce subjective variability.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Weighting logic: </a:t>
            </a:r>
            <a:r>
              <a:rPr lang="en-US" dirty="0">
                <a:solidFill>
                  <a:srgbClr val="1D2633"/>
                </a:solidFill>
              </a:rPr>
              <a:t>Distinguishes primary and secondary competency involvement within each behavior.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4360" y="5349240"/>
            <a:ext cx="10972800" cy="50292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22960" y="545896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model is practical, but it is also grounded in learning, engagement, and behavioral evidence.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07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Model Is Useful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202A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</a:rPr>
              <a:t>Longitudinal analysis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3400" y="150876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D2633"/>
                </a:solidFill>
              </a:rPr>
              <a:t>Track competency exposure over multiple semesters and activities.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1234440" y="1938528"/>
            <a:ext cx="9966960" cy="0"/>
          </a:xfrm>
          <a:prstGeom prst="line">
            <a:avLst/>
          </a:prstGeom>
          <a:noFill/>
          <a:ln w="762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713232" y="23225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202A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2951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</a:rPr>
              <a:t>Behavioral profiling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295144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D2633"/>
                </a:solidFill>
              </a:rPr>
              <a:t>Understand whether students mostly observe, participate, organize, lead, or support.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234440" y="2724912"/>
            <a:ext cx="9966960" cy="0"/>
          </a:xfrm>
          <a:prstGeom prst="line">
            <a:avLst/>
          </a:prstGeom>
          <a:noFill/>
          <a:ln w="762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713232" y="3108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202A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815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</a:rPr>
              <a:t>Program evaluation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43400" y="3081528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D2633"/>
                </a:solidFill>
              </a:rPr>
              <a:t>Identify which competencies Campus Life activities develop most strongly.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1234440" y="3511296"/>
            <a:ext cx="9966960" cy="0"/>
          </a:xfrm>
          <a:prstGeom prst="line">
            <a:avLst/>
          </a:prstGeom>
          <a:noFill/>
          <a:ln w="762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713232" y="389534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202A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867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</a:rPr>
              <a:t>Student recognition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343400" y="386791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D2633"/>
                </a:solidFill>
              </a:rPr>
              <a:t>Give students a structured record of meaningful engagement beyond attendance.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1234440" y="4297680"/>
            <a:ext cx="9966960" cy="0"/>
          </a:xfrm>
          <a:prstGeom prst="line">
            <a:avLst/>
          </a:prstGeom>
          <a:noFill/>
          <a:ln w="762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713232" y="46817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202A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6542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</a:rPr>
              <a:t>Strategic reporting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654296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D2633"/>
                </a:solidFill>
              </a:rPr>
              <a:t>Provide evidence for quality improvement, planning, and institutional impact.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1234440" y="5084064"/>
            <a:ext cx="9966960" cy="0"/>
          </a:xfrm>
          <a:prstGeom prst="line">
            <a:avLst/>
          </a:prstGeom>
          <a:noFill/>
          <a:ln w="762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08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System Reduces Subjectivity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633"/>
                </a:solidFill>
              </a:rPr>
              <a:t>Reducing subjectivity does not mean removing student voice. It means structuring it.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5074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1051560" y="22677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</a:rPr>
              <a:t>Structured Input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724912"/>
            <a:ext cx="44805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8202A"/>
                </a:solidFill>
              </a:rPr>
              <a:t>• </a:t>
            </a:r>
            <a:r>
              <a:rPr lang="en-US" sz="1400" dirty="0">
                <a:solidFill>
                  <a:srgbClr val="1D2633"/>
                </a:solidFill>
              </a:rPr>
              <a:t>Students choose structured behavior options.
</a:t>
            </a:r>
            <a:r>
              <a:rPr lang="en-US" sz="1400" b="1" dirty="0">
                <a:solidFill>
                  <a:srgbClr val="A8202A"/>
                </a:solidFill>
              </a:rPr>
              <a:t>• </a:t>
            </a:r>
            <a:r>
              <a:rPr lang="en-US" sz="1400" dirty="0">
                <a:solidFill>
                  <a:srgbClr val="1D2633"/>
                </a:solidFill>
              </a:rPr>
              <a:t>Open-ended reflections provide supporting validation.
</a:t>
            </a:r>
            <a:r>
              <a:rPr lang="en-US" sz="1400" b="1" dirty="0">
                <a:solidFill>
                  <a:srgbClr val="A8202A"/>
                </a:solidFill>
              </a:rPr>
              <a:t>• </a:t>
            </a:r>
            <a:r>
              <a:rPr lang="en-US" sz="1400" dirty="0">
                <a:solidFill>
                  <a:srgbClr val="1D2633"/>
                </a:solidFill>
              </a:rPr>
              <a:t>Competency mapping is system-defined.
</a:t>
            </a:r>
            <a:r>
              <a:rPr lang="en-US" sz="1400" b="1" dirty="0">
                <a:solidFill>
                  <a:srgbClr val="A8202A"/>
                </a:solidFill>
              </a:rPr>
              <a:t>• </a:t>
            </a:r>
            <a:r>
              <a:rPr lang="en-US" sz="1400" dirty="0">
                <a:solidFill>
                  <a:srgbClr val="1D2633"/>
                </a:solidFill>
              </a:rPr>
              <a:t>Students do not assign competencies to themselves.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057400"/>
            <a:ext cx="5074920" cy="2560320"/>
          </a:xfrm>
          <a:prstGeom prst="rect">
            <a:avLst/>
          </a:prstGeom>
          <a:solidFill>
            <a:srgbClr val="EEF3F7"/>
          </a:solidFill>
          <a:ln w="12700">
            <a:solidFill>
              <a:srgbClr val="C8D1D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537960" y="22677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</a:rPr>
              <a:t>System Logic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724912"/>
            <a:ext cx="44805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8202A"/>
                </a:solidFill>
              </a:rPr>
              <a:t>• </a:t>
            </a:r>
            <a:r>
              <a:rPr lang="en-US" sz="1400" dirty="0">
                <a:solidFill>
                  <a:srgbClr val="1D2633"/>
                </a:solidFill>
              </a:rPr>
              <a:t>Event-level tagging filters irrelevant mappings.
</a:t>
            </a:r>
            <a:r>
              <a:rPr lang="en-US" sz="1400" b="1" dirty="0">
                <a:solidFill>
                  <a:srgbClr val="A8202A"/>
                </a:solidFill>
              </a:rPr>
              <a:t>• </a:t>
            </a:r>
            <a:r>
              <a:rPr lang="en-US" sz="1400" dirty="0">
                <a:solidFill>
                  <a:srgbClr val="1D2633"/>
                </a:solidFill>
              </a:rPr>
              <a:t>Targeted competencies reduce point inflation.
</a:t>
            </a:r>
            <a:r>
              <a:rPr lang="en-US" sz="1400" b="1" dirty="0">
                <a:solidFill>
                  <a:srgbClr val="A8202A"/>
                </a:solidFill>
              </a:rPr>
              <a:t>• </a:t>
            </a:r>
            <a:r>
              <a:rPr lang="en-US" sz="1400" dirty="0">
                <a:solidFill>
                  <a:srgbClr val="1D2633"/>
                </a:solidFill>
              </a:rPr>
              <a:t>Behavior options standardize data collection.
</a:t>
            </a:r>
            <a:r>
              <a:rPr lang="en-US" sz="1400" b="1" dirty="0">
                <a:solidFill>
                  <a:srgbClr val="A8202A"/>
                </a:solidFill>
              </a:rPr>
              <a:t>• </a:t>
            </a:r>
            <a:r>
              <a:rPr lang="en-US" sz="1400" dirty="0">
                <a:solidFill>
                  <a:srgbClr val="1D2633"/>
                </a:solidFill>
              </a:rPr>
              <a:t>Certificates provide incentive to complete the check-out.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09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Transcript Content: Five Components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859536" y="17373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202A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53312" y="1737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43E"/>
                </a:solidFill>
              </a:rPr>
              <a:t>Total events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353312" y="20848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633"/>
                </a:solidFill>
              </a:rPr>
              <a:t>How present the student is in Campus Life.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43984" y="1554480"/>
            <a:ext cx="3246120" cy="1143000"/>
          </a:xfrm>
          <a:prstGeom prst="rect">
            <a:avLst/>
          </a:prstGeom>
          <a:solidFill>
            <a:srgbClr val="EEF3F7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4590288" y="17373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202A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84064" y="1737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43E"/>
                </a:solidFill>
              </a:rPr>
              <a:t>Competency distribution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084064" y="20848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633"/>
                </a:solidFill>
              </a:rPr>
              <a:t>Where the student’s engagement is focused.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74736" y="1554480"/>
            <a:ext cx="3246120" cy="1143000"/>
          </a:xfrm>
          <a:prstGeom prst="rect">
            <a:avLst/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8321040" y="17373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14816" y="1737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Engagement average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814816" y="20848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DDE5EE"/>
                </a:solidFill>
              </a:rPr>
              <a:t>How deeply the student engages on average.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13232" y="3154680"/>
            <a:ext cx="3246120" cy="1143000"/>
          </a:xfrm>
          <a:prstGeom prst="rect">
            <a:avLst/>
          </a:prstGeom>
          <a:solidFill>
            <a:srgbClr val="EEF3F7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859536" y="33375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202A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53312" y="3337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43E"/>
                </a:solidFill>
              </a:rPr>
              <a:t>Participation log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353312" y="36850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633"/>
                </a:solidFill>
              </a:rPr>
              <a:t>Contextual record of activities, roles, and event types.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443984" y="315468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4590288" y="33375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202A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4064" y="3337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43E"/>
                </a:solidFill>
              </a:rPr>
              <a:t>Affiliation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084064" y="36850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633"/>
                </a:solidFill>
              </a:rPr>
              <a:t>Clubs, sports teams, student council, and roles.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</a:rPr>
              <a:t>The transcript turns repeated participation into a readable development profile.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10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 Average: Quality and Intensity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202A"/>
                </a:solidFill>
              </a:rPr>
              <a:t>Engagement Average = Total Points ÷ Number of Events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1D2633"/>
                </a:solidFill>
              </a:rPr>
              <a:t>It is not about how many events the student attended. It is about what they actually did in those events.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51560" y="2697480"/>
            <a:ext cx="10058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1234440" y="277063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202A"/>
                </a:solidFill>
              </a:rPr>
              <a:t>&lt; 2.5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0" y="277063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43E"/>
                </a:solidFill>
              </a:rPr>
              <a:t>Passive Exposure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0" y="2770632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2633"/>
                </a:solidFill>
              </a:rPr>
              <a:t>Mostly observing, minimal 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3172968"/>
            <a:ext cx="10058400" cy="356616"/>
          </a:xfrm>
          <a:prstGeom prst="rect">
            <a:avLst/>
          </a:prstGeom>
          <a:solidFill>
            <a:srgbClr val="EEF3F7"/>
          </a:solidFill>
          <a:ln w="635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1234440" y="324612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202A"/>
                </a:solidFill>
              </a:rPr>
              <a:t>2.5–3.5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324612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43E"/>
                </a:solidFill>
              </a:rPr>
              <a:t>Basic Participation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0" y="3246120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2633"/>
                </a:solidFill>
              </a:rPr>
              <a:t>Participates but limited depth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" y="3648456"/>
            <a:ext cx="10058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234440" y="372160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202A"/>
                </a:solidFill>
              </a:rPr>
              <a:t>3.5–4.5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372160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43E"/>
                </a:solidFill>
              </a:rPr>
              <a:t>Active Engagement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0" y="372160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2633"/>
                </a:solidFill>
              </a:rPr>
              <a:t>Clearly involved and engaged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51560" y="4123944"/>
            <a:ext cx="10058400" cy="356616"/>
          </a:xfrm>
          <a:prstGeom prst="rect">
            <a:avLst/>
          </a:prstGeom>
          <a:solidFill>
            <a:srgbClr val="EEF3F7"/>
          </a:solidFill>
          <a:ln w="635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1234440" y="419709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202A"/>
                </a:solidFill>
              </a:rPr>
              <a:t>4.5–5.5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0" y="4197096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43E"/>
                </a:solidFill>
              </a:rPr>
              <a:t>High Engagement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4197096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2633"/>
                </a:solidFill>
              </a:rPr>
              <a:t>Strong participation and contribution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51560" y="4599432"/>
            <a:ext cx="100584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1234440" y="4672584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202A"/>
                </a:solidFill>
              </a:rPr>
              <a:t>5.5+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0" y="467258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43E"/>
                </a:solidFill>
              </a:rPr>
              <a:t>Advanced Engagement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0" y="4672584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2633"/>
                </a:solidFill>
              </a:rPr>
              <a:t>Frequent contribution or responsibility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11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Is a Student Affairs Best Practice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6984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Student-centered: </a:t>
            </a:r>
            <a:r>
              <a:rPr lang="en-US" dirty="0">
                <a:solidFill>
                  <a:srgbClr val="1D2633"/>
                </a:solidFill>
              </a:rPr>
              <a:t>It recognizes engagement as a developmental journey, not a simple attendance count.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Competency-based: </a:t>
            </a:r>
            <a:r>
              <a:rPr lang="en-US" dirty="0">
                <a:solidFill>
                  <a:srgbClr val="1D2633"/>
                </a:solidFill>
              </a:rPr>
              <a:t>It connects Campus Life activities to the skills PMU wants students to practice.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Evidence-based: </a:t>
            </a:r>
            <a:r>
              <a:rPr lang="en-US" dirty="0">
                <a:solidFill>
                  <a:srgbClr val="1D2633"/>
                </a:solidFill>
              </a:rPr>
              <a:t>It produces structured data that can support reports, improvement, and strategy.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Fairer recognition: </a:t>
            </a:r>
            <a:r>
              <a:rPr lang="en-US" dirty="0">
                <a:solidFill>
                  <a:srgbClr val="1D2633"/>
                </a:solidFill>
              </a:rPr>
              <a:t>It gives visibility to contribution, responsibility, participation, and service.</a:t>
            </a:r>
          </a:p>
          <a:p>
            <a:pPr marL="0" indent="0">
              <a:buNone/>
            </a:pPr>
            <a:r>
              <a:rPr lang="en-US" dirty="0">
                <a:solidFill>
                  <a:srgbClr val="1D2633"/>
                </a:solidFill>
              </a:rPr>
              <a:t>
</a:t>
            </a:r>
            <a:r>
              <a:rPr lang="en-US" b="1" dirty="0">
                <a:solidFill>
                  <a:srgbClr val="A8202A"/>
                </a:solidFill>
              </a:rPr>
              <a:t>• </a:t>
            </a:r>
            <a:r>
              <a:rPr lang="en-US" b="1" dirty="0">
                <a:solidFill>
                  <a:srgbClr val="10243E"/>
                </a:solidFill>
              </a:rPr>
              <a:t>Scalable: </a:t>
            </a:r>
            <a:r>
              <a:rPr lang="en-US" dirty="0">
                <a:solidFill>
                  <a:srgbClr val="1D2633"/>
                </a:solidFill>
              </a:rPr>
              <a:t>The same logic can apply across events, clubs, sports, councils, competitions, and programs.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4360" y="5349240"/>
            <a:ext cx="10972800" cy="50292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22960" y="545896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Best-practice formula: observable behavior + structured mapping + longitudinal transcript.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12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789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Development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10789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D2633"/>
                </a:solidFill>
              </a:rPr>
              <a:t>The model can continue to grow as the Student Affairs ecosystem becomes more digital and integrated.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941832" y="2148840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Student-friendly application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60520" y="21305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D2633"/>
                </a:solidFill>
              </a:rPr>
              <a:t>A clearer interface for students to view opportunities, check-out, and track their profile.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68680" y="274320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941832" y="2834640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More systemized monitoring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60520" y="28163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D2633"/>
                </a:solidFill>
              </a:rPr>
              <a:t>Stronger time, location, and attendance verification logic where appropriate.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68680" y="342900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941832" y="3520440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Continuous refinement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35021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D2633"/>
                </a:solidFill>
              </a:rPr>
              <a:t>Amend questions, mappings, and thresholds as more data becomes available.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68680" y="411480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941832" y="4206240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Dashboards and 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0520" y="4187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D2633"/>
                </a:solidFill>
              </a:rPr>
              <a:t>Better visibility for staff and leadership on reach, engagement, and competency patterns.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13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143000"/>
            <a:ext cx="10789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PMU Competency Engagement Transcript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51560" y="1938528"/>
            <a:ext cx="10058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633"/>
                </a:solidFill>
              </a:rPr>
              <a:t>A behavior-based, student-centered, and data-informed approach to Campus Life.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07008" y="2442750"/>
            <a:ext cx="3017520" cy="914400"/>
          </a:xfrm>
          <a:prstGeom prst="rect">
            <a:avLst/>
          </a:prstGeom>
          <a:solidFill>
            <a:srgbClr val="A8202A"/>
          </a:solidFill>
          <a:ln w="12700">
            <a:solidFill>
              <a:srgbClr val="A8202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1371600" y="276279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Meaningful evidence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27448" y="2442750"/>
            <a:ext cx="3017520" cy="914400"/>
          </a:xfrm>
          <a:prstGeom prst="rect">
            <a:avLst/>
          </a:prstGeom>
          <a:solidFill>
            <a:srgbClr val="18385F"/>
          </a:solidFill>
          <a:ln w="12700">
            <a:solidFill>
              <a:srgbClr val="18385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4892040" y="276279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Fairer student recognition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47888" y="2442750"/>
            <a:ext cx="3017520" cy="914400"/>
          </a:xfrm>
          <a:prstGeom prst="rect">
            <a:avLst/>
          </a:prstGeom>
          <a:solidFill>
            <a:srgbClr val="7FAE7B"/>
          </a:solidFill>
          <a:ln w="12700">
            <a:solidFill>
              <a:srgbClr val="7FAE7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8412480" y="276279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Stronger program improvement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" y="37673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202A"/>
                </a:solidFill>
              </a:rPr>
              <a:t>Thank you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1109960" y="6373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A7280"/>
                </a:solidFill>
              </a:rPr>
              <a:t>14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6281928"/>
            <a:ext cx="10927080" cy="0"/>
          </a:xfrm>
          <a:prstGeom prst="line">
            <a:avLst/>
          </a:prstGeom>
          <a:noFill/>
          <a:ln w="8890">
            <a:solidFill>
              <a:srgbClr val="DDD2C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Picture 4" descr="A logo with a sun and text&#10;&#10;AI-generated content may be incorrect.">
            <a:extLst>
              <a:ext uri="{FF2B5EF4-FFF2-40B4-BE49-F238E27FC236}">
                <a16:creationId xmlns:a16="http://schemas.microsoft.com/office/drawing/2014/main" id="{4F875759-3107-E712-473D-EDEFE3EF6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506" y="4418507"/>
            <a:ext cx="1732788" cy="17327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1105</Words>
  <Application>Microsoft Macintosh PowerPoint</Application>
  <PresentationFormat>Widescreen</PresentationFormat>
  <Paragraphs>176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Prince Mohammad Bin Fahd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PMU Competency Exposure Transcript - Student Affairs Best Practice</dc:title>
  <dc:subject>PMU Competency Exposure Transcript</dc:subject>
  <dc:creator>OpenAI</dc:creator>
  <cp:lastModifiedBy>Imad Khoder Agha</cp:lastModifiedBy>
  <cp:revision>6</cp:revision>
  <dcterms:created xsi:type="dcterms:W3CDTF">2026-07-25T11:07:07Z</dcterms:created>
  <dcterms:modified xsi:type="dcterms:W3CDTF">2026-07-25T11:41:18Z</dcterms:modified>
</cp:coreProperties>
</file>