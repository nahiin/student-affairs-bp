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6"/>
  </p:notesMasterIdLst>
  <p:sldIdLst>
    <p:sldId id="256" r:id="rId3"/>
    <p:sldId id="257" r:id="rId4"/>
    <p:sldId id="284" r:id="rId5"/>
    <p:sldId id="285" r:id="rId6"/>
    <p:sldId id="258" r:id="rId7"/>
    <p:sldId id="278" r:id="rId8"/>
    <p:sldId id="279" r:id="rId9"/>
    <p:sldId id="283" r:id="rId10"/>
    <p:sldId id="261" r:id="rId11"/>
    <p:sldId id="267" r:id="rId12"/>
    <p:sldId id="264" r:id="rId13"/>
    <p:sldId id="276" r:id="rId14"/>
    <p:sldId id="272" r:id="rId15"/>
  </p:sldIdLst>
  <p:sldSz cx="13017500" cy="7315200"/>
  <p:notesSz cx="9866313" cy="6735763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Untitled Section" id="{40C6E9C1-5B9A-4F95-8109-2FA8E8673709}">
          <p14:sldIdLst>
            <p14:sldId id="256"/>
            <p14:sldId id="257"/>
            <p14:sldId id="284"/>
            <p14:sldId id="285"/>
            <p14:sldId id="258"/>
            <p14:sldId id="278"/>
            <p14:sldId id="279"/>
            <p14:sldId id="283"/>
            <p14:sldId id="261"/>
            <p14:sldId id="267"/>
            <p14:sldId id="264"/>
            <p14:sldId id="276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744"/>
    <a:srgbClr val="F37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FA6F3-C983-4CF9-B3D2-DC31D1A445D3}" v="23" dt="2026-05-11T08:47:26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64" d="100"/>
          <a:sy n="64" d="100"/>
        </p:scale>
        <p:origin x="93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ham Amna Shaddad" userId="e07c86c0-b4cf-47e6-bb3a-a4dae155ec59" providerId="ADAL" clId="{53B657E3-3C55-4228-BB7F-3BBCC2EF3E65}"/>
    <pc:docChg chg="undo redo custSel addSld modSld sldOrd addSection modSection">
      <pc:chgData name="Siham Amna Shaddad" userId="e07c86c0-b4cf-47e6-bb3a-a4dae155ec59" providerId="ADAL" clId="{53B657E3-3C55-4228-BB7F-3BBCC2EF3E65}" dt="2026-05-11T08:52:48.498" v="462" actId="408"/>
      <pc:docMkLst>
        <pc:docMk/>
      </pc:docMkLst>
      <pc:sldChg chg="addSp modSp mod modClrScheme chgLayout">
        <pc:chgData name="Siham Amna Shaddad" userId="e07c86c0-b4cf-47e6-bb3a-a4dae155ec59" providerId="ADAL" clId="{53B657E3-3C55-4228-BB7F-3BBCC2EF3E65}" dt="2026-05-11T08:38:51.401" v="285" actId="207"/>
        <pc:sldMkLst>
          <pc:docMk/>
          <pc:sldMk cId="0" sldId="256"/>
        </pc:sldMkLst>
        <pc:spChg chg="mod ord">
          <ac:chgData name="Siham Amna Shaddad" userId="e07c86c0-b4cf-47e6-bb3a-a4dae155ec59" providerId="ADAL" clId="{53B657E3-3C55-4228-BB7F-3BBCC2EF3E65}" dt="2026-05-11T08:36:20.234" v="116" actId="1076"/>
          <ac:spMkLst>
            <pc:docMk/>
            <pc:sldMk cId="0" sldId="256"/>
            <ac:spMk id="3" creationId="{00000000-0000-0000-0000-000000000000}"/>
          </ac:spMkLst>
        </pc:spChg>
        <pc:spChg chg="add mod ord">
          <ac:chgData name="Siham Amna Shaddad" userId="e07c86c0-b4cf-47e6-bb3a-a4dae155ec59" providerId="ADAL" clId="{53B657E3-3C55-4228-BB7F-3BBCC2EF3E65}" dt="2026-05-11T08:36:17.786" v="115" actId="1076"/>
          <ac:spMkLst>
            <pc:docMk/>
            <pc:sldMk cId="0" sldId="256"/>
            <ac:spMk id="7" creationId="{A07150E3-C3A4-A19E-6E0F-000443174047}"/>
          </ac:spMkLst>
        </pc:spChg>
        <pc:spChg chg="add mod">
          <ac:chgData name="Siham Amna Shaddad" userId="e07c86c0-b4cf-47e6-bb3a-a4dae155ec59" providerId="ADAL" clId="{53B657E3-3C55-4228-BB7F-3BBCC2EF3E65}" dt="2026-05-11T08:38:49.305" v="278" actId="1076"/>
          <ac:spMkLst>
            <pc:docMk/>
            <pc:sldMk cId="0" sldId="256"/>
            <ac:spMk id="8" creationId="{02821DD9-61E8-DEE9-10DF-B13C8FA90549}"/>
          </ac:spMkLst>
        </pc:spChg>
        <pc:spChg chg="add mod">
          <ac:chgData name="Siham Amna Shaddad" userId="e07c86c0-b4cf-47e6-bb3a-a4dae155ec59" providerId="ADAL" clId="{53B657E3-3C55-4228-BB7F-3BBCC2EF3E65}" dt="2026-05-11T08:38:51.401" v="285" actId="207"/>
          <ac:spMkLst>
            <pc:docMk/>
            <pc:sldMk cId="0" sldId="256"/>
            <ac:spMk id="9" creationId="{A3428C10-B088-3C91-D8D5-AE4E31B7747E}"/>
          </ac:spMkLst>
        </pc:spChg>
      </pc:sldChg>
      <pc:sldChg chg="addSp delSp modSp mod ord chgLayout">
        <pc:chgData name="Siham Amna Shaddad" userId="e07c86c0-b4cf-47e6-bb3a-a4dae155ec59" providerId="ADAL" clId="{53B657E3-3C55-4228-BB7F-3BBCC2EF3E65}" dt="2026-05-11T08:52:48.498" v="462" actId="408"/>
        <pc:sldMkLst>
          <pc:docMk/>
          <pc:sldMk cId="0" sldId="257"/>
        </pc:sldMkLst>
        <pc:spChg chg="mod">
          <ac:chgData name="Siham Amna Shaddad" userId="e07c86c0-b4cf-47e6-bb3a-a4dae155ec59" providerId="ADAL" clId="{53B657E3-3C55-4228-BB7F-3BBCC2EF3E65}" dt="2026-05-11T08:52:16.434" v="456" actId="1076"/>
          <ac:spMkLst>
            <pc:docMk/>
            <pc:sldMk cId="0" sldId="257"/>
            <ac:spMk id="3" creationId="{00000000-0000-0000-0000-000000000000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7" creationId="{00000000-0000-0000-0000-000000000000}"/>
          </ac:spMkLst>
        </pc:spChg>
        <pc:spChg chg="add del mod ord">
          <ac:chgData name="Siham Amna Shaddad" userId="e07c86c0-b4cf-47e6-bb3a-a4dae155ec59" providerId="ADAL" clId="{53B657E3-3C55-4228-BB7F-3BBCC2EF3E65}" dt="2026-05-11T08:47:15.710" v="435" actId="478"/>
          <ac:spMkLst>
            <pc:docMk/>
            <pc:sldMk cId="0" sldId="257"/>
            <ac:spMk id="8" creationId="{31935392-8442-689A-ED7D-B7371E22B6B3}"/>
          </ac:spMkLst>
        </pc:spChg>
        <pc:spChg chg="add del mod ord">
          <ac:chgData name="Siham Amna Shaddad" userId="e07c86c0-b4cf-47e6-bb3a-a4dae155ec59" providerId="ADAL" clId="{53B657E3-3C55-4228-BB7F-3BBCC2EF3E65}" dt="2026-05-11T08:41:13.080" v="343" actId="478"/>
          <ac:spMkLst>
            <pc:docMk/>
            <pc:sldMk cId="0" sldId="257"/>
            <ac:spMk id="9" creationId="{D645A563-D1E8-25BD-1013-AE9937D95DC7}"/>
          </ac:spMkLst>
        </pc:spChg>
        <pc:spChg chg="add del mod">
          <ac:chgData name="Siham Amna Shaddad" userId="e07c86c0-b4cf-47e6-bb3a-a4dae155ec59" providerId="ADAL" clId="{53B657E3-3C55-4228-BB7F-3BBCC2EF3E65}" dt="2026-05-11T08:47:20.031" v="438" actId="478"/>
          <ac:spMkLst>
            <pc:docMk/>
            <pc:sldMk cId="0" sldId="257"/>
            <ac:spMk id="11" creationId="{A9BEBB92-6644-AAD8-46C7-2A1257501832}"/>
          </ac:spMkLst>
        </pc:spChg>
        <pc:spChg chg="add mod">
          <ac:chgData name="Siham Amna Shaddad" userId="e07c86c0-b4cf-47e6-bb3a-a4dae155ec59" providerId="ADAL" clId="{53B657E3-3C55-4228-BB7F-3BBCC2EF3E65}" dt="2026-05-11T08:52:48.498" v="462" actId="408"/>
          <ac:spMkLst>
            <pc:docMk/>
            <pc:sldMk cId="0" sldId="257"/>
            <ac:spMk id="12" creationId="{FFEC4C34-CF12-1175-5CF0-714F66A9E33D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13" creationId="{00000000-0000-0000-0000-000000000000}"/>
          </ac:spMkLst>
        </pc:spChg>
        <pc:spChg chg="add del mod">
          <ac:chgData name="Siham Amna Shaddad" userId="e07c86c0-b4cf-47e6-bb3a-a4dae155ec59" providerId="ADAL" clId="{53B657E3-3C55-4228-BB7F-3BBCC2EF3E65}" dt="2026-05-11T08:47:18.239" v="437" actId="478"/>
          <ac:spMkLst>
            <pc:docMk/>
            <pc:sldMk cId="0" sldId="257"/>
            <ac:spMk id="18" creationId="{D66EFBA1-40AF-1DB8-09DE-0B561B65E588}"/>
          </ac:spMkLst>
        </pc:spChg>
        <pc:spChg chg="add mod">
          <ac:chgData name="Siham Amna Shaddad" userId="e07c86c0-b4cf-47e6-bb3a-a4dae155ec59" providerId="ADAL" clId="{53B657E3-3C55-4228-BB7F-3BBCC2EF3E65}" dt="2026-05-11T08:52:48.498" v="462" actId="408"/>
          <ac:spMkLst>
            <pc:docMk/>
            <pc:sldMk cId="0" sldId="257"/>
            <ac:spMk id="19" creationId="{4A9C1769-2BF6-F123-1269-E68AA3B0A2FA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21" creationId="{00000000-0000-0000-0000-000000000000}"/>
          </ac:spMkLst>
        </pc:spChg>
        <pc:spChg chg="mod ord">
          <ac:chgData name="Siham Amna Shaddad" userId="e07c86c0-b4cf-47e6-bb3a-a4dae155ec59" providerId="ADAL" clId="{53B657E3-3C55-4228-BB7F-3BBCC2EF3E65}" dt="2026-05-11T08:40:59.695" v="301" actId="700"/>
          <ac:spMkLst>
            <pc:docMk/>
            <pc:sldMk cId="0" sldId="257"/>
            <ac:spMk id="22" creationId="{00000000-0000-0000-0000-000000000000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29" creationId="{DDD0CEB9-22B3-C846-06E3-66BF165AA930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30" creationId="{1F730C57-AF0D-52E7-03EE-508F21AC4EBE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31" creationId="{6795AA32-733E-5FB4-F470-6D14E244B202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32" creationId="{60E37721-227B-7D91-FC09-89C8E5F8A6FE}"/>
          </ac:spMkLst>
        </pc:spChg>
        <pc:spChg chg="del">
          <ac:chgData name="Siham Amna Shaddad" userId="e07c86c0-b4cf-47e6-bb3a-a4dae155ec59" providerId="ADAL" clId="{53B657E3-3C55-4228-BB7F-3BBCC2EF3E65}" dt="2026-05-11T08:39:51.319" v="286" actId="478"/>
          <ac:spMkLst>
            <pc:docMk/>
            <pc:sldMk cId="0" sldId="257"/>
            <ac:spMk id="33" creationId="{478B0722-EA26-B5CF-EC65-C6DA69587334}"/>
          </ac:spMkLst>
        </pc:spChg>
        <pc:grpChg chg="del">
          <ac:chgData name="Siham Amna Shaddad" userId="e07c86c0-b4cf-47e6-bb3a-a4dae155ec59" providerId="ADAL" clId="{53B657E3-3C55-4228-BB7F-3BBCC2EF3E65}" dt="2026-05-11T08:47:24.406" v="439" actId="478"/>
          <ac:grpSpMkLst>
            <pc:docMk/>
            <pc:sldMk cId="0" sldId="257"/>
            <ac:grpSpMk id="15" creationId="{00000000-0000-0000-0000-000000000000}"/>
          </ac:grpSpMkLst>
        </pc:grpChg>
        <pc:graphicFrameChg chg="add del mod modGraphic">
          <ac:chgData name="Siham Amna Shaddad" userId="e07c86c0-b4cf-47e6-bb3a-a4dae155ec59" providerId="ADAL" clId="{53B657E3-3C55-4228-BB7F-3BBCC2EF3E65}" dt="2026-05-11T08:47:17.428" v="436" actId="478"/>
          <ac:graphicFrameMkLst>
            <pc:docMk/>
            <pc:sldMk cId="0" sldId="257"/>
            <ac:graphicFrameMk id="10" creationId="{6C25013A-9E38-8F30-6205-97B7FBCF871B}"/>
          </ac:graphicFrameMkLst>
        </pc:graphicFrameChg>
        <pc:picChg chg="mod">
          <ac:chgData name="Siham Amna Shaddad" userId="e07c86c0-b4cf-47e6-bb3a-a4dae155ec59" providerId="ADAL" clId="{53B657E3-3C55-4228-BB7F-3BBCC2EF3E65}" dt="2026-05-11T08:52:18.281" v="457" actId="1076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Siham Amna Shaddad" userId="e07c86c0-b4cf-47e6-bb3a-a4dae155ec59" providerId="ADAL" clId="{53B657E3-3C55-4228-BB7F-3BBCC2EF3E65}" dt="2026-05-11T08:52:12.314" v="455" actId="1076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Siham Amna Shaddad" userId="e07c86c0-b4cf-47e6-bb3a-a4dae155ec59" providerId="ADAL" clId="{53B657E3-3C55-4228-BB7F-3BBCC2EF3E65}" dt="2026-05-11T08:39:53.580" v="287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Siham Amna Shaddad" userId="e07c86c0-b4cf-47e6-bb3a-a4dae155ec59" providerId="ADAL" clId="{53B657E3-3C55-4228-BB7F-3BBCC2EF3E65}" dt="2026-05-11T08:39:54.684" v="288" actId="478"/>
          <ac:picMkLst>
            <pc:docMk/>
            <pc:sldMk cId="0" sldId="257"/>
            <ac:picMk id="6" creationId="{00000000-0000-0000-0000-000000000000}"/>
          </ac:picMkLst>
        </pc:picChg>
      </pc:sldChg>
      <pc:sldChg chg="addSp delSp modSp new mod modTransition setBg">
        <pc:chgData name="Siham Amna Shaddad" userId="e07c86c0-b4cf-47e6-bb3a-a4dae155ec59" providerId="ADAL" clId="{53B657E3-3C55-4228-BB7F-3BBCC2EF3E65}" dt="2026-05-11T08:40:53.692" v="300"/>
        <pc:sldMkLst>
          <pc:docMk/>
          <pc:sldMk cId="3605613113" sldId="284"/>
        </pc:sldMkLst>
        <pc:spChg chg="del mod">
          <ac:chgData name="Siham Amna Shaddad" userId="e07c86c0-b4cf-47e6-bb3a-a4dae155ec59" providerId="ADAL" clId="{53B657E3-3C55-4228-BB7F-3BBCC2EF3E65}" dt="2026-05-11T08:40:24.682" v="294" actId="478"/>
          <ac:spMkLst>
            <pc:docMk/>
            <pc:sldMk cId="3605613113" sldId="284"/>
            <ac:spMk id="2" creationId="{B23F5260-C336-C0F2-C092-F5E9A51A4ABF}"/>
          </ac:spMkLst>
        </pc:spChg>
        <pc:spChg chg="del mod">
          <ac:chgData name="Siham Amna Shaddad" userId="e07c86c0-b4cf-47e6-bb3a-a4dae155ec59" providerId="ADAL" clId="{53B657E3-3C55-4228-BB7F-3BBCC2EF3E65}" dt="2026-05-11T08:40:23.706" v="293" actId="478"/>
          <ac:spMkLst>
            <pc:docMk/>
            <pc:sldMk cId="3605613113" sldId="284"/>
            <ac:spMk id="3" creationId="{61D4357A-3F70-2CFD-3F6D-E6AB86B749FD}"/>
          </ac:spMkLst>
        </pc:spChg>
        <pc:spChg chg="mod">
          <ac:chgData name="Siham Amna Shaddad" userId="e07c86c0-b4cf-47e6-bb3a-a4dae155ec59" providerId="ADAL" clId="{53B657E3-3C55-4228-BB7F-3BBCC2EF3E65}" dt="2026-05-11T08:40:17.732" v="291"/>
          <ac:spMkLst>
            <pc:docMk/>
            <pc:sldMk cId="3605613113" sldId="284"/>
            <ac:spMk id="4" creationId="{98B6C902-C022-27A9-E5B9-F1B358B61DC3}"/>
          </ac:spMkLst>
        </pc:spChg>
        <pc:spChg chg="del mod">
          <ac:chgData name="Siham Amna Shaddad" userId="e07c86c0-b4cf-47e6-bb3a-a4dae155ec59" providerId="ADAL" clId="{53B657E3-3C55-4228-BB7F-3BBCC2EF3E65}" dt="2026-05-11T08:40:21.898" v="292" actId="478"/>
          <ac:spMkLst>
            <pc:docMk/>
            <pc:sldMk cId="3605613113" sldId="284"/>
            <ac:spMk id="5" creationId="{B192F95E-856B-50AD-5D08-D210785A4E86}"/>
          </ac:spMkLst>
        </pc:spChg>
        <pc:spChg chg="mod">
          <ac:chgData name="Siham Amna Shaddad" userId="e07c86c0-b4cf-47e6-bb3a-a4dae155ec59" providerId="ADAL" clId="{53B657E3-3C55-4228-BB7F-3BBCC2EF3E65}" dt="2026-05-11T08:40:17.732" v="291"/>
          <ac:spMkLst>
            <pc:docMk/>
            <pc:sldMk cId="3605613113" sldId="284"/>
            <ac:spMk id="6" creationId="{2821518F-58A5-5D76-B5DE-C4DFA9AFE6D9}"/>
          </ac:spMkLst>
        </pc:spChg>
        <pc:spChg chg="add mod">
          <ac:chgData name="Siham Amna Shaddad" userId="e07c86c0-b4cf-47e6-bb3a-a4dae155ec59" providerId="ADAL" clId="{53B657E3-3C55-4228-BB7F-3BBCC2EF3E65}" dt="2026-05-11T08:40:48.350" v="299"/>
          <ac:spMkLst>
            <pc:docMk/>
            <pc:sldMk cId="3605613113" sldId="284"/>
            <ac:spMk id="9" creationId="{0565D85E-40CE-DC50-AF38-9C92058F32EE}"/>
          </ac:spMkLst>
        </pc:spChg>
        <pc:grpChg chg="add mod">
          <ac:chgData name="Siham Amna Shaddad" userId="e07c86c0-b4cf-47e6-bb3a-a4dae155ec59" providerId="ADAL" clId="{53B657E3-3C55-4228-BB7F-3BBCC2EF3E65}" dt="2026-05-11T08:40:53.692" v="300"/>
          <ac:grpSpMkLst>
            <pc:docMk/>
            <pc:sldMk cId="3605613113" sldId="284"/>
            <ac:grpSpMk id="10" creationId="{B941FC34-2722-9E05-2168-2E301FAA15B6}"/>
          </ac:grpSpMkLst>
        </pc:grpChg>
        <pc:picChg chg="add mod">
          <ac:chgData name="Siham Amna Shaddad" userId="e07c86c0-b4cf-47e6-bb3a-a4dae155ec59" providerId="ADAL" clId="{53B657E3-3C55-4228-BB7F-3BBCC2EF3E65}" dt="2026-05-11T08:40:35.892" v="297"/>
          <ac:picMkLst>
            <pc:docMk/>
            <pc:sldMk cId="3605613113" sldId="284"/>
            <ac:picMk id="7" creationId="{E79FD778-F90A-8ADE-41A6-CB24DB9B6924}"/>
          </ac:picMkLst>
        </pc:picChg>
        <pc:picChg chg="add mod">
          <ac:chgData name="Siham Amna Shaddad" userId="e07c86c0-b4cf-47e6-bb3a-a4dae155ec59" providerId="ADAL" clId="{53B657E3-3C55-4228-BB7F-3BBCC2EF3E65}" dt="2026-05-11T08:40:40.553" v="298"/>
          <ac:picMkLst>
            <pc:docMk/>
            <pc:sldMk cId="3605613113" sldId="284"/>
            <ac:picMk id="8" creationId="{7F80ABEE-625B-7EC2-1EA8-B9F82BD32351}"/>
          </ac:picMkLst>
        </pc:picChg>
        <pc:picChg chg="mod">
          <ac:chgData name="Siham Amna Shaddad" userId="e07c86c0-b4cf-47e6-bb3a-a4dae155ec59" providerId="ADAL" clId="{53B657E3-3C55-4228-BB7F-3BBCC2EF3E65}" dt="2026-05-11T08:40:53.692" v="300"/>
          <ac:picMkLst>
            <pc:docMk/>
            <pc:sldMk cId="3605613113" sldId="284"/>
            <ac:picMk id="11" creationId="{41F1F5E6-4EE7-14B2-3029-6766EA1B7F58}"/>
          </ac:picMkLst>
        </pc:picChg>
        <pc:picChg chg="mod">
          <ac:chgData name="Siham Amna Shaddad" userId="e07c86c0-b4cf-47e6-bb3a-a4dae155ec59" providerId="ADAL" clId="{53B657E3-3C55-4228-BB7F-3BBCC2EF3E65}" dt="2026-05-11T08:40:53.692" v="300"/>
          <ac:picMkLst>
            <pc:docMk/>
            <pc:sldMk cId="3605613113" sldId="284"/>
            <ac:picMk id="12" creationId="{0773E6E7-5CE8-3249-AD53-B365BD419BDD}"/>
          </ac:picMkLst>
        </pc:picChg>
      </pc:sldChg>
      <pc:sldChg chg="new">
        <pc:chgData name="Siham Amna Shaddad" userId="e07c86c0-b4cf-47e6-bb3a-a4dae155ec59" providerId="ADAL" clId="{53B657E3-3C55-4228-BB7F-3BBCC2EF3E65}" dt="2026-05-11T08:40:08.980" v="290" actId="680"/>
        <pc:sldMkLst>
          <pc:docMk/>
          <pc:sldMk cId="784233326" sldId="28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soliman\Desktop\Copy%20of%20COMPARATIVE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baseline="0" dirty="0">
                <a:effectLst/>
              </a:rPr>
              <a:t>Overall Comparative Analysis of Academic Standings between 2016-2019 and 2020-2023</a:t>
            </a:r>
            <a:r>
              <a:rPr lang="en-US" sz="1200" b="0" i="0" u="none" strike="noStrike" baseline="0" dirty="0"/>
              <a:t> 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graph!$A$42</c:f>
              <c:strCache>
                <c:ptCount val="1"/>
                <c:pt idx="0">
                  <c:v>AD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graph!$B$41:$C$41</c:f>
              <c:strCache>
                <c:ptCount val="2"/>
                <c:pt idx="0">
                  <c:v>2016-2019</c:v>
                </c:pt>
                <c:pt idx="1">
                  <c:v>2020-2024</c:v>
                </c:pt>
              </c:strCache>
            </c:strRef>
          </c:cat>
          <c:val>
            <c:numRef>
              <c:f>graph!$B$42:$C$42</c:f>
              <c:numCache>
                <c:formatCode>General</c:formatCode>
                <c:ptCount val="2"/>
                <c:pt idx="0">
                  <c:v>159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E-4CD1-A970-E08329DAC381}"/>
            </c:ext>
          </c:extLst>
        </c:ser>
        <c:ser>
          <c:idx val="1"/>
          <c:order val="1"/>
          <c:tx>
            <c:strRef>
              <c:f>graph!$A$43</c:f>
              <c:strCache>
                <c:ptCount val="1"/>
                <c:pt idx="0">
                  <c:v>GD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graph!$B$41:$C$41</c:f>
              <c:strCache>
                <c:ptCount val="2"/>
                <c:pt idx="0">
                  <c:v>2016-2019</c:v>
                </c:pt>
                <c:pt idx="1">
                  <c:v>2020-2024</c:v>
                </c:pt>
              </c:strCache>
            </c:strRef>
          </c:cat>
          <c:val>
            <c:numRef>
              <c:f>graph!$B$43:$C$43</c:f>
              <c:numCache>
                <c:formatCode>General</c:formatCode>
                <c:ptCount val="2"/>
                <c:pt idx="0">
                  <c:v>28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5E-4CD1-A970-E08329DAC381}"/>
            </c:ext>
          </c:extLst>
        </c:ser>
        <c:ser>
          <c:idx val="2"/>
          <c:order val="2"/>
          <c:tx>
            <c:strRef>
              <c:f>graph!$A$44</c:f>
              <c:strCache>
                <c:ptCount val="1"/>
                <c:pt idx="0">
                  <c:v>CGPA&lt;2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graph!$B$41:$C$41</c:f>
              <c:strCache>
                <c:ptCount val="2"/>
                <c:pt idx="0">
                  <c:v>2016-2019</c:v>
                </c:pt>
                <c:pt idx="1">
                  <c:v>2020-2024</c:v>
                </c:pt>
              </c:strCache>
            </c:strRef>
          </c:cat>
          <c:val>
            <c:numRef>
              <c:f>graph!$B$44:$C$44</c:f>
              <c:numCache>
                <c:formatCode>General</c:formatCode>
                <c:ptCount val="2"/>
                <c:pt idx="0">
                  <c:v>22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5E-4CD1-A970-E08329DAC381}"/>
            </c:ext>
          </c:extLst>
        </c:ser>
        <c:ser>
          <c:idx val="3"/>
          <c:order val="3"/>
          <c:tx>
            <c:strRef>
              <c:f>graph!$A$45</c:f>
              <c:strCache>
                <c:ptCount val="1"/>
                <c:pt idx="0">
                  <c:v>R1 &amp; R2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graph!$B$41:$C$41</c:f>
              <c:strCache>
                <c:ptCount val="2"/>
                <c:pt idx="0">
                  <c:v>2016-2019</c:v>
                </c:pt>
                <c:pt idx="1">
                  <c:v>2020-2024</c:v>
                </c:pt>
              </c:strCache>
            </c:strRef>
          </c:cat>
          <c:val>
            <c:numRef>
              <c:f>graph!$B$45:$C$45</c:f>
              <c:numCache>
                <c:formatCode>General</c:formatCode>
                <c:ptCount val="2"/>
                <c:pt idx="0">
                  <c:v>36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5E-4CD1-A970-E08329DAC381}"/>
            </c:ext>
          </c:extLst>
        </c:ser>
        <c:ser>
          <c:idx val="4"/>
          <c:order val="4"/>
          <c:tx>
            <c:strRef>
              <c:f>graph!$A$46</c:f>
              <c:strCache>
                <c:ptCount val="1"/>
                <c:pt idx="0">
                  <c:v>Explusion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graph!$B$41:$C$41</c:f>
              <c:strCache>
                <c:ptCount val="2"/>
                <c:pt idx="0">
                  <c:v>2016-2019</c:v>
                </c:pt>
                <c:pt idx="1">
                  <c:v>2020-2024</c:v>
                </c:pt>
              </c:strCache>
            </c:strRef>
          </c:cat>
          <c:val>
            <c:numRef>
              <c:f>graph!$B$46:$C$46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5E-4CD1-A970-E08329DAC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8448223"/>
        <c:axId val="1755988047"/>
      </c:barChart>
      <c:catAx>
        <c:axId val="19784482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ACADEMIC</a:t>
                </a:r>
                <a:r>
                  <a:rPr lang="en-US" baseline="0"/>
                  <a:t> YEAR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988047"/>
        <c:crosses val="autoZero"/>
        <c:auto val="1"/>
        <c:lblAlgn val="ctr"/>
        <c:lblOffset val="100"/>
        <c:noMultiLvlLbl val="0"/>
      </c:catAx>
      <c:valAx>
        <c:axId val="175598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# OF STUDENTS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8448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E19CC-0A6A-411E-835A-75235069CF29}" type="doc">
      <dgm:prSet loTypeId="urn:microsoft.com/office/officeart/2011/layout/HexagonRadial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B04C233-4F3A-45A8-9648-D6F88278DD6F}">
      <dgm:prSet phldrT="[Text]"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Procedures for at-risk students</a:t>
          </a:r>
        </a:p>
      </dgm:t>
    </dgm:pt>
    <dgm:pt modelId="{640860B8-A341-485D-B0C6-D19DC0055664}" type="parTrans" cxnId="{30920153-653E-4EE1-BD7F-E2E03E97A716}">
      <dgm:prSet/>
      <dgm:spPr/>
      <dgm:t>
        <a:bodyPr/>
        <a:lstStyle/>
        <a:p>
          <a:pPr algn="ctr"/>
          <a:endParaRPr lang="en-US"/>
        </a:p>
      </dgm:t>
    </dgm:pt>
    <dgm:pt modelId="{1DC5949C-D1C1-49CA-BBCF-DD235EC91491}" type="sibTrans" cxnId="{30920153-653E-4EE1-BD7F-E2E03E97A716}">
      <dgm:prSet/>
      <dgm:spPr/>
      <dgm:t>
        <a:bodyPr/>
        <a:lstStyle/>
        <a:p>
          <a:pPr algn="ctr"/>
          <a:endParaRPr lang="en-US"/>
        </a:p>
      </dgm:t>
    </dgm:pt>
    <dgm:pt modelId="{FB72305C-1386-4F85-8252-5079388D3B9B}">
      <dgm:prSet phldrT="[Text]" custT="1"/>
      <dgm:spPr>
        <a:solidFill>
          <a:srgbClr val="1F497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EEECE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6510" tIns="16510" rIns="16510" bIns="16510" numCol="1" spcCol="1270" anchor="ctr" anchorCtr="0"/>
        <a:lstStyle/>
        <a:p>
          <a:pPr algn="ctr">
            <a:buNone/>
          </a:pPr>
          <a:r>
            <a:rPr lang="en-US" sz="1500" dirty="0"/>
            <a:t>Assessment and Reflection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050" dirty="0"/>
            <a:t>discuss the reasons </a:t>
          </a:r>
        </a:p>
        <a:p>
          <a:pPr algn="ctr">
            <a:buNone/>
          </a:pPr>
          <a:r>
            <a:rPr lang="en-US" sz="1000" dirty="0"/>
            <a:t>⁠Identify specific challenges</a:t>
          </a:r>
        </a:p>
        <a:p>
          <a:pPr algn="ctr">
            <a:buNone/>
          </a:pPr>
          <a:r>
            <a:rPr lang="en-US" sz="1000" dirty="0"/>
            <a:t>create a tailored study plan</a:t>
          </a:r>
        </a:p>
      </dgm:t>
    </dgm:pt>
    <dgm:pt modelId="{B3F2F065-5760-411D-B2C1-401BC5378FD5}" type="parTrans" cxnId="{A8DB20A4-312F-4612-9BF4-878CA3387B48}">
      <dgm:prSet/>
      <dgm:spPr/>
      <dgm:t>
        <a:bodyPr/>
        <a:lstStyle/>
        <a:p>
          <a:pPr algn="ctr"/>
          <a:endParaRPr lang="en-US"/>
        </a:p>
      </dgm:t>
    </dgm:pt>
    <dgm:pt modelId="{DE3D7F29-3E59-4834-AE88-BC086B064ED8}" type="sibTrans" cxnId="{A8DB20A4-312F-4612-9BF4-878CA3387B48}">
      <dgm:prSet/>
      <dgm:spPr/>
      <dgm:t>
        <a:bodyPr/>
        <a:lstStyle/>
        <a:p>
          <a:pPr algn="ctr"/>
          <a:endParaRPr lang="en-US"/>
        </a:p>
      </dgm:t>
    </dgm:pt>
    <dgm:pt modelId="{CD2805A4-637A-4ABB-9715-9DF03A6AFE07}">
      <dgm:prSet phldrT="[Text]" custT="1"/>
      <dgm:spPr/>
      <dgm:t>
        <a:bodyPr/>
        <a:lstStyle/>
        <a:p>
          <a:pPr algn="ctr"/>
          <a:r>
            <a:rPr lang="en-US" sz="1600" dirty="0"/>
            <a:t>Academic Support</a:t>
          </a:r>
        </a:p>
        <a:p>
          <a:pPr algn="ctr"/>
          <a:r>
            <a:rPr lang="en-US" sz="1100" dirty="0"/>
            <a:t>Customized study plan focusing on specific courses </a:t>
          </a:r>
        </a:p>
        <a:p>
          <a:pPr algn="ctr"/>
          <a:r>
            <a:rPr lang="en-US" sz="1100" dirty="0"/>
            <a:t>Use of tutoring services or study groups </a:t>
          </a:r>
        </a:p>
      </dgm:t>
    </dgm:pt>
    <dgm:pt modelId="{D3A9D883-60F8-46CF-B269-8CE60E00819E}" type="parTrans" cxnId="{257FAC83-C210-4A44-B311-B50181C6ED61}">
      <dgm:prSet/>
      <dgm:spPr/>
      <dgm:t>
        <a:bodyPr/>
        <a:lstStyle/>
        <a:p>
          <a:pPr algn="ctr"/>
          <a:endParaRPr lang="en-US"/>
        </a:p>
      </dgm:t>
    </dgm:pt>
    <dgm:pt modelId="{CE462A30-F5A6-43DC-9AB3-16BC78A64753}" type="sibTrans" cxnId="{257FAC83-C210-4A44-B311-B50181C6ED61}">
      <dgm:prSet/>
      <dgm:spPr/>
      <dgm:t>
        <a:bodyPr/>
        <a:lstStyle/>
        <a:p>
          <a:pPr algn="ctr"/>
          <a:endParaRPr lang="en-US"/>
        </a:p>
      </dgm:t>
    </dgm:pt>
    <dgm:pt modelId="{7A5DECEF-1547-47B6-864E-672514EC6A32}">
      <dgm:prSet phldrT="[Text]" custT="1"/>
      <dgm:spPr/>
      <dgm:t>
        <a:bodyPr/>
        <a:lstStyle/>
        <a:p>
          <a:pPr algn="ctr"/>
          <a:r>
            <a:rPr lang="en-US" sz="1600" dirty="0"/>
            <a:t>Goal Setting</a:t>
          </a:r>
        </a:p>
        <a:p>
          <a:pPr algn="ctr"/>
          <a:r>
            <a:rPr lang="en-US" sz="900" dirty="0"/>
            <a:t>Set realistic short and long-term academic goals</a:t>
          </a:r>
        </a:p>
        <a:p>
          <a:pPr algn="ctr"/>
          <a:r>
            <a:rPr lang="en-US" sz="900" dirty="0"/>
            <a:t>Regularly review and adjust goals </a:t>
          </a:r>
        </a:p>
      </dgm:t>
    </dgm:pt>
    <dgm:pt modelId="{848A1015-AE6F-4B4A-83B0-1E2F664D95DB}" type="parTrans" cxnId="{EA1ABFF8-A934-4F5A-91D7-6F3D379D880C}">
      <dgm:prSet/>
      <dgm:spPr/>
      <dgm:t>
        <a:bodyPr/>
        <a:lstStyle/>
        <a:p>
          <a:pPr algn="ctr"/>
          <a:endParaRPr lang="en-US"/>
        </a:p>
      </dgm:t>
    </dgm:pt>
    <dgm:pt modelId="{9B5AA27E-1B47-4004-BCAF-9A57C8C92918}" type="sibTrans" cxnId="{EA1ABFF8-A934-4F5A-91D7-6F3D379D880C}">
      <dgm:prSet/>
      <dgm:spPr/>
      <dgm:t>
        <a:bodyPr/>
        <a:lstStyle/>
        <a:p>
          <a:pPr algn="ctr"/>
          <a:endParaRPr lang="en-US"/>
        </a:p>
      </dgm:t>
    </dgm:pt>
    <dgm:pt modelId="{F830D34F-C70B-4D38-BFC9-16C8DF867D8E}">
      <dgm:prSet phldrT="[Text]" custT="1"/>
      <dgm:spPr/>
      <dgm:t>
        <a:bodyPr/>
        <a:lstStyle/>
        <a:p>
          <a:pPr algn="ctr"/>
          <a:r>
            <a:rPr lang="en-US" sz="1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Time Management</a:t>
          </a:r>
        </a:p>
        <a:p>
          <a:pPr algn="ctr"/>
          <a:r>
            <a:rPr lang="en-US" sz="900" kern="1200" dirty="0"/>
            <a:t>Enhance organizational skills</a:t>
          </a:r>
        </a:p>
        <a:p>
          <a:pPr algn="ctr"/>
          <a:r>
            <a:rPr lang="en-US" sz="900" kern="1200" dirty="0"/>
            <a:t>Teach effective scheduling techniques</a:t>
          </a:r>
        </a:p>
        <a:p>
          <a:pPr algn="ctr"/>
          <a:r>
            <a:rPr lang="en-US" sz="900" kern="1200" dirty="0"/>
            <a:t>Emphasize the importance </a:t>
          </a:r>
        </a:p>
      </dgm:t>
    </dgm:pt>
    <dgm:pt modelId="{A7DF033E-0477-40A1-B1EE-9F1D40ACF926}" type="parTrans" cxnId="{9C2C1853-A0E9-4DDE-AEB5-F9D267EF67DC}">
      <dgm:prSet/>
      <dgm:spPr/>
      <dgm:t>
        <a:bodyPr/>
        <a:lstStyle/>
        <a:p>
          <a:pPr algn="ctr"/>
          <a:endParaRPr lang="en-US"/>
        </a:p>
      </dgm:t>
    </dgm:pt>
    <dgm:pt modelId="{0F59C335-005D-4236-9CF8-EC0F9A3773E5}" type="sibTrans" cxnId="{9C2C1853-A0E9-4DDE-AEB5-F9D267EF67DC}">
      <dgm:prSet/>
      <dgm:spPr/>
      <dgm:t>
        <a:bodyPr/>
        <a:lstStyle/>
        <a:p>
          <a:pPr algn="ctr"/>
          <a:endParaRPr lang="en-US"/>
        </a:p>
      </dgm:t>
    </dgm:pt>
    <dgm:pt modelId="{392F448F-F052-416A-9E96-60C140FF3EE1}">
      <dgm:prSet phldrT="[Text]"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Academic Skills Workshops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Offer workshops 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Provide resources </a:t>
          </a:r>
        </a:p>
      </dgm:t>
    </dgm:pt>
    <dgm:pt modelId="{BE4B83C0-CF40-4DDB-811F-EB28407C993C}" type="parTrans" cxnId="{832B559E-8F45-4216-878C-EB6B019EDFD8}">
      <dgm:prSet/>
      <dgm:spPr/>
      <dgm:t>
        <a:bodyPr/>
        <a:lstStyle/>
        <a:p>
          <a:pPr algn="ctr"/>
          <a:endParaRPr lang="en-US"/>
        </a:p>
      </dgm:t>
    </dgm:pt>
    <dgm:pt modelId="{0B53468F-779C-4C02-B299-9CB3F4AC2FDA}" type="sibTrans" cxnId="{832B559E-8F45-4216-878C-EB6B019EDFD8}">
      <dgm:prSet/>
      <dgm:spPr/>
      <dgm:t>
        <a:bodyPr/>
        <a:lstStyle/>
        <a:p>
          <a:pPr algn="ctr"/>
          <a:endParaRPr lang="en-US"/>
        </a:p>
      </dgm:t>
    </dgm:pt>
    <dgm:pt modelId="{AE503737-F132-435E-8726-09FB2793DE69}">
      <dgm:prSet phldrT="[Text]" custT="1"/>
      <dgm:spPr/>
      <dgm:t>
        <a:bodyPr/>
        <a:lstStyle/>
        <a:p>
          <a:pPr algn="ctr"/>
          <a:r>
            <a:rPr lang="en-US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Monitoring and Evaluation</a:t>
          </a:r>
        </a:p>
        <a:p>
          <a:pPr algn="ctr"/>
          <a:r>
            <a:rPr lang="en-US" sz="1100" kern="1200" dirty="0"/>
            <a:t>⁠Implement a system for monitoring academic progress </a:t>
          </a:r>
        </a:p>
      </dgm:t>
    </dgm:pt>
    <dgm:pt modelId="{E183556B-A39D-4963-89B9-5F85FE32758B}" type="parTrans" cxnId="{D562D4F6-921E-4D73-BF0E-14912A25310B}">
      <dgm:prSet/>
      <dgm:spPr/>
      <dgm:t>
        <a:bodyPr/>
        <a:lstStyle/>
        <a:p>
          <a:pPr algn="ctr"/>
          <a:endParaRPr lang="en-US"/>
        </a:p>
      </dgm:t>
    </dgm:pt>
    <dgm:pt modelId="{D3ACCD5E-1180-44B0-A69E-647CA997A7EA}" type="sibTrans" cxnId="{D562D4F6-921E-4D73-BF0E-14912A25310B}">
      <dgm:prSet/>
      <dgm:spPr/>
      <dgm:t>
        <a:bodyPr/>
        <a:lstStyle/>
        <a:p>
          <a:pPr algn="ctr"/>
          <a:endParaRPr lang="en-US"/>
        </a:p>
      </dgm:t>
    </dgm:pt>
    <dgm:pt modelId="{2308AC9D-DBB6-4BC2-92AF-93B2295D7274}" type="pres">
      <dgm:prSet presAssocID="{970E19CC-0A6A-411E-835A-75235069CF2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C2940AD-F665-443C-B720-44A312C58750}" type="pres">
      <dgm:prSet presAssocID="{8B04C233-4F3A-45A8-9648-D6F88278DD6F}" presName="Parent" presStyleLbl="node0" presStyleIdx="0" presStyleCnt="1" custLinFactNeighborX="285" custLinFactNeighborY="-1455">
        <dgm:presLayoutVars>
          <dgm:chMax val="6"/>
          <dgm:chPref val="6"/>
        </dgm:presLayoutVars>
      </dgm:prSet>
      <dgm:spPr/>
    </dgm:pt>
    <dgm:pt modelId="{52E8E88F-03FE-4EC5-950D-28615CA35C96}" type="pres">
      <dgm:prSet presAssocID="{FB72305C-1386-4F85-8252-5079388D3B9B}" presName="Accent1" presStyleCnt="0"/>
      <dgm:spPr/>
    </dgm:pt>
    <dgm:pt modelId="{BA9E513C-624C-4644-BFAC-E9D8F3B2C4D6}" type="pres">
      <dgm:prSet presAssocID="{FB72305C-1386-4F85-8252-5079388D3B9B}" presName="Accent" presStyleLbl="bgShp" presStyleIdx="0" presStyleCnt="6"/>
      <dgm:spPr/>
    </dgm:pt>
    <dgm:pt modelId="{866EDED7-6606-4B9D-9F70-C522CD0E4694}" type="pres">
      <dgm:prSet presAssocID="{FB72305C-1386-4F85-8252-5079388D3B9B}" presName="Child1" presStyleLbl="node1" presStyleIdx="0" presStyleCnt="6" custScaleX="100000" custScaleY="99895" custLinFactNeighborX="3262" custLinFactNeighborY="6019">
        <dgm:presLayoutVars>
          <dgm:chMax val="0"/>
          <dgm:chPref val="0"/>
          <dgm:bulletEnabled val="1"/>
        </dgm:presLayoutVars>
      </dgm:prSet>
      <dgm:spPr>
        <a:xfrm>
          <a:off x="3326452" y="0"/>
          <a:ext cx="1893822" cy="1638378"/>
        </a:xfrm>
        <a:prstGeom prst="hexagon">
          <a:avLst>
            <a:gd name="adj" fmla="val 28570"/>
            <a:gd name="vf" fmla="val 115470"/>
          </a:avLst>
        </a:prstGeom>
      </dgm:spPr>
    </dgm:pt>
    <dgm:pt modelId="{9D3642CF-6A9D-4AD4-AB44-06DB4168154D}" type="pres">
      <dgm:prSet presAssocID="{CD2805A4-637A-4ABB-9715-9DF03A6AFE07}" presName="Accent2" presStyleCnt="0"/>
      <dgm:spPr/>
    </dgm:pt>
    <dgm:pt modelId="{0A5F0253-D2CC-47FB-B8CD-19EDDC433A95}" type="pres">
      <dgm:prSet presAssocID="{CD2805A4-637A-4ABB-9715-9DF03A6AFE07}" presName="Accent" presStyleLbl="bgShp" presStyleIdx="1" presStyleCnt="6"/>
      <dgm:spPr/>
    </dgm:pt>
    <dgm:pt modelId="{204A6611-F09C-4357-B423-60D0876F6AB2}" type="pres">
      <dgm:prSet presAssocID="{CD2805A4-637A-4ABB-9715-9DF03A6AFE07}" presName="Child2" presStyleLbl="node1" presStyleIdx="1" presStyleCnt="6" custScaleX="113898" custScaleY="111391">
        <dgm:presLayoutVars>
          <dgm:chMax val="0"/>
          <dgm:chPref val="0"/>
          <dgm:bulletEnabled val="1"/>
        </dgm:presLayoutVars>
      </dgm:prSet>
      <dgm:spPr/>
    </dgm:pt>
    <dgm:pt modelId="{FCD563A5-93AB-4A7E-A5F9-4E74165146D4}" type="pres">
      <dgm:prSet presAssocID="{7A5DECEF-1547-47B6-864E-672514EC6A32}" presName="Accent3" presStyleCnt="0"/>
      <dgm:spPr/>
    </dgm:pt>
    <dgm:pt modelId="{1D0E9EEE-4EE0-40FC-96C6-52C45E589D5C}" type="pres">
      <dgm:prSet presAssocID="{7A5DECEF-1547-47B6-864E-672514EC6A32}" presName="Accent" presStyleLbl="bgShp" presStyleIdx="2" presStyleCnt="6"/>
      <dgm:spPr/>
    </dgm:pt>
    <dgm:pt modelId="{46F3743A-7EC1-49FF-AC3B-E3B2813FD0C4}" type="pres">
      <dgm:prSet presAssocID="{7A5DECEF-1547-47B6-864E-672514EC6A32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B2599CBC-E38A-4C24-8DD9-73E4F80DD0B8}" type="pres">
      <dgm:prSet presAssocID="{F830D34F-C70B-4D38-BFC9-16C8DF867D8E}" presName="Accent4" presStyleCnt="0"/>
      <dgm:spPr/>
    </dgm:pt>
    <dgm:pt modelId="{569B66CE-4CBC-429E-8969-3DDE76D02870}" type="pres">
      <dgm:prSet presAssocID="{F830D34F-C70B-4D38-BFC9-16C8DF867D8E}" presName="Accent" presStyleLbl="bgShp" presStyleIdx="3" presStyleCnt="6"/>
      <dgm:spPr/>
    </dgm:pt>
    <dgm:pt modelId="{DA042BFE-278B-40B1-ADA9-4EC8AB21F86D}" type="pres">
      <dgm:prSet presAssocID="{F830D34F-C70B-4D38-BFC9-16C8DF867D8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75441910-1A53-4E69-A57B-7E1C7431945D}" type="pres">
      <dgm:prSet presAssocID="{392F448F-F052-416A-9E96-60C140FF3EE1}" presName="Accent5" presStyleCnt="0"/>
      <dgm:spPr/>
    </dgm:pt>
    <dgm:pt modelId="{EE58C18E-AFD0-4EE0-91B4-908E4368F46D}" type="pres">
      <dgm:prSet presAssocID="{392F448F-F052-416A-9E96-60C140FF3EE1}" presName="Accent" presStyleLbl="bgShp" presStyleIdx="4" presStyleCnt="6"/>
      <dgm:spPr/>
    </dgm:pt>
    <dgm:pt modelId="{90908ECC-0E13-4926-923D-5D9E51D06786}" type="pres">
      <dgm:prSet presAssocID="{392F448F-F052-416A-9E96-60C140FF3EE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B4169FF-CC61-43D9-81E1-A2C518BB03D3}" type="pres">
      <dgm:prSet presAssocID="{AE503737-F132-435E-8726-09FB2793DE69}" presName="Accent6" presStyleCnt="0"/>
      <dgm:spPr/>
    </dgm:pt>
    <dgm:pt modelId="{101B0F2A-38F4-4024-ACE1-3CC73CBC77DF}" type="pres">
      <dgm:prSet presAssocID="{AE503737-F132-435E-8726-09FB2793DE69}" presName="Accent" presStyleLbl="bgShp" presStyleIdx="5" presStyleCnt="6"/>
      <dgm:spPr/>
    </dgm:pt>
    <dgm:pt modelId="{AA4A65EA-69A3-480B-B24C-E55C8ECDBA40}" type="pres">
      <dgm:prSet presAssocID="{AE503737-F132-435E-8726-09FB2793DE69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FE44B301-A4B8-4F7B-A7AE-96F52A193025}" type="presOf" srcId="{8B04C233-4F3A-45A8-9648-D6F88278DD6F}" destId="{2C2940AD-F665-443C-B720-44A312C58750}" srcOrd="0" destOrd="0" presId="urn:microsoft.com/office/officeart/2011/layout/HexagonRadial"/>
    <dgm:cxn modelId="{C7EEB25E-21A7-4492-A01A-7A23C2FA6DE1}" type="presOf" srcId="{CD2805A4-637A-4ABB-9715-9DF03A6AFE07}" destId="{204A6611-F09C-4357-B423-60D0876F6AB2}" srcOrd="0" destOrd="0" presId="urn:microsoft.com/office/officeart/2011/layout/HexagonRadial"/>
    <dgm:cxn modelId="{D051BA47-D925-4485-A189-310CDFE46B07}" type="presOf" srcId="{970E19CC-0A6A-411E-835A-75235069CF29}" destId="{2308AC9D-DBB6-4BC2-92AF-93B2295D7274}" srcOrd="0" destOrd="0" presId="urn:microsoft.com/office/officeart/2011/layout/HexagonRadial"/>
    <dgm:cxn modelId="{30920153-653E-4EE1-BD7F-E2E03E97A716}" srcId="{970E19CC-0A6A-411E-835A-75235069CF29}" destId="{8B04C233-4F3A-45A8-9648-D6F88278DD6F}" srcOrd="0" destOrd="0" parTransId="{640860B8-A341-485D-B0C6-D19DC0055664}" sibTransId="{1DC5949C-D1C1-49CA-BBCF-DD235EC91491}"/>
    <dgm:cxn modelId="{9C2C1853-A0E9-4DDE-AEB5-F9D267EF67DC}" srcId="{8B04C233-4F3A-45A8-9648-D6F88278DD6F}" destId="{F830D34F-C70B-4D38-BFC9-16C8DF867D8E}" srcOrd="3" destOrd="0" parTransId="{A7DF033E-0477-40A1-B1EE-9F1D40ACF926}" sibTransId="{0F59C335-005D-4236-9CF8-EC0F9A3773E5}"/>
    <dgm:cxn modelId="{257FAC83-C210-4A44-B311-B50181C6ED61}" srcId="{8B04C233-4F3A-45A8-9648-D6F88278DD6F}" destId="{CD2805A4-637A-4ABB-9715-9DF03A6AFE07}" srcOrd="1" destOrd="0" parTransId="{D3A9D883-60F8-46CF-B269-8CE60E00819E}" sibTransId="{CE462A30-F5A6-43DC-9AB3-16BC78A64753}"/>
    <dgm:cxn modelId="{1CA2258C-FDEC-4328-9221-1C68C921FF8E}" type="presOf" srcId="{392F448F-F052-416A-9E96-60C140FF3EE1}" destId="{90908ECC-0E13-4926-923D-5D9E51D06786}" srcOrd="0" destOrd="0" presId="urn:microsoft.com/office/officeart/2011/layout/HexagonRadial"/>
    <dgm:cxn modelId="{832B559E-8F45-4216-878C-EB6B019EDFD8}" srcId="{8B04C233-4F3A-45A8-9648-D6F88278DD6F}" destId="{392F448F-F052-416A-9E96-60C140FF3EE1}" srcOrd="4" destOrd="0" parTransId="{BE4B83C0-CF40-4DDB-811F-EB28407C993C}" sibTransId="{0B53468F-779C-4C02-B299-9CB3F4AC2FDA}"/>
    <dgm:cxn modelId="{A8DB20A4-312F-4612-9BF4-878CA3387B48}" srcId="{8B04C233-4F3A-45A8-9648-D6F88278DD6F}" destId="{FB72305C-1386-4F85-8252-5079388D3B9B}" srcOrd="0" destOrd="0" parTransId="{B3F2F065-5760-411D-B2C1-401BC5378FD5}" sibTransId="{DE3D7F29-3E59-4834-AE88-BC086B064ED8}"/>
    <dgm:cxn modelId="{D7E451B8-3450-418D-81BB-B73011832F27}" type="presOf" srcId="{AE503737-F132-435E-8726-09FB2793DE69}" destId="{AA4A65EA-69A3-480B-B24C-E55C8ECDBA40}" srcOrd="0" destOrd="0" presId="urn:microsoft.com/office/officeart/2011/layout/HexagonRadial"/>
    <dgm:cxn modelId="{249801BB-3BAC-483B-AC10-8689EB2C040F}" type="presOf" srcId="{FB72305C-1386-4F85-8252-5079388D3B9B}" destId="{866EDED7-6606-4B9D-9F70-C522CD0E4694}" srcOrd="0" destOrd="0" presId="urn:microsoft.com/office/officeart/2011/layout/HexagonRadial"/>
    <dgm:cxn modelId="{CA2F3DCA-A55B-48C5-A535-6A51A799254E}" type="presOf" srcId="{F830D34F-C70B-4D38-BFC9-16C8DF867D8E}" destId="{DA042BFE-278B-40B1-ADA9-4EC8AB21F86D}" srcOrd="0" destOrd="0" presId="urn:microsoft.com/office/officeart/2011/layout/HexagonRadial"/>
    <dgm:cxn modelId="{EFC06BD8-7C48-4331-9151-7B5709E4D9A8}" type="presOf" srcId="{7A5DECEF-1547-47B6-864E-672514EC6A32}" destId="{46F3743A-7EC1-49FF-AC3B-E3B2813FD0C4}" srcOrd="0" destOrd="0" presId="urn:microsoft.com/office/officeart/2011/layout/HexagonRadial"/>
    <dgm:cxn modelId="{D562D4F6-921E-4D73-BF0E-14912A25310B}" srcId="{8B04C233-4F3A-45A8-9648-D6F88278DD6F}" destId="{AE503737-F132-435E-8726-09FB2793DE69}" srcOrd="5" destOrd="0" parTransId="{E183556B-A39D-4963-89B9-5F85FE32758B}" sibTransId="{D3ACCD5E-1180-44B0-A69E-647CA997A7EA}"/>
    <dgm:cxn modelId="{EA1ABFF8-A934-4F5A-91D7-6F3D379D880C}" srcId="{8B04C233-4F3A-45A8-9648-D6F88278DD6F}" destId="{7A5DECEF-1547-47B6-864E-672514EC6A32}" srcOrd="2" destOrd="0" parTransId="{848A1015-AE6F-4B4A-83B0-1E2F664D95DB}" sibTransId="{9B5AA27E-1B47-4004-BCAF-9A57C8C92918}"/>
    <dgm:cxn modelId="{1DC1838F-C9C3-46C8-80CE-ADF12123BCDB}" type="presParOf" srcId="{2308AC9D-DBB6-4BC2-92AF-93B2295D7274}" destId="{2C2940AD-F665-443C-B720-44A312C58750}" srcOrd="0" destOrd="0" presId="urn:microsoft.com/office/officeart/2011/layout/HexagonRadial"/>
    <dgm:cxn modelId="{A737BDA4-46EF-484B-8C34-28DF84477BAE}" type="presParOf" srcId="{2308AC9D-DBB6-4BC2-92AF-93B2295D7274}" destId="{52E8E88F-03FE-4EC5-950D-28615CA35C96}" srcOrd="1" destOrd="0" presId="urn:microsoft.com/office/officeart/2011/layout/HexagonRadial"/>
    <dgm:cxn modelId="{0BC0BEA2-79CC-42B1-9715-DC2760638632}" type="presParOf" srcId="{52E8E88F-03FE-4EC5-950D-28615CA35C96}" destId="{BA9E513C-624C-4644-BFAC-E9D8F3B2C4D6}" srcOrd="0" destOrd="0" presId="urn:microsoft.com/office/officeart/2011/layout/HexagonRadial"/>
    <dgm:cxn modelId="{58880CDF-5285-457E-950E-3EC709222EE4}" type="presParOf" srcId="{2308AC9D-DBB6-4BC2-92AF-93B2295D7274}" destId="{866EDED7-6606-4B9D-9F70-C522CD0E4694}" srcOrd="2" destOrd="0" presId="urn:microsoft.com/office/officeart/2011/layout/HexagonRadial"/>
    <dgm:cxn modelId="{26EAA61D-B12F-4196-824B-1FC09DE2EB41}" type="presParOf" srcId="{2308AC9D-DBB6-4BC2-92AF-93B2295D7274}" destId="{9D3642CF-6A9D-4AD4-AB44-06DB4168154D}" srcOrd="3" destOrd="0" presId="urn:microsoft.com/office/officeart/2011/layout/HexagonRadial"/>
    <dgm:cxn modelId="{619A97DA-6585-4235-9AFC-1313030C5FC2}" type="presParOf" srcId="{9D3642CF-6A9D-4AD4-AB44-06DB4168154D}" destId="{0A5F0253-D2CC-47FB-B8CD-19EDDC433A95}" srcOrd="0" destOrd="0" presId="urn:microsoft.com/office/officeart/2011/layout/HexagonRadial"/>
    <dgm:cxn modelId="{15542B46-EF72-43B7-BA50-62302FFCD88F}" type="presParOf" srcId="{2308AC9D-DBB6-4BC2-92AF-93B2295D7274}" destId="{204A6611-F09C-4357-B423-60D0876F6AB2}" srcOrd="4" destOrd="0" presId="urn:microsoft.com/office/officeart/2011/layout/HexagonRadial"/>
    <dgm:cxn modelId="{878898A5-F29B-4028-91F0-1A633596E9EA}" type="presParOf" srcId="{2308AC9D-DBB6-4BC2-92AF-93B2295D7274}" destId="{FCD563A5-93AB-4A7E-A5F9-4E74165146D4}" srcOrd="5" destOrd="0" presId="urn:microsoft.com/office/officeart/2011/layout/HexagonRadial"/>
    <dgm:cxn modelId="{7AF8B9BA-67D8-4902-BC4F-6E216469F967}" type="presParOf" srcId="{FCD563A5-93AB-4A7E-A5F9-4E74165146D4}" destId="{1D0E9EEE-4EE0-40FC-96C6-52C45E589D5C}" srcOrd="0" destOrd="0" presId="urn:microsoft.com/office/officeart/2011/layout/HexagonRadial"/>
    <dgm:cxn modelId="{D79EF8DF-D2EB-4058-BEF1-BC1648958698}" type="presParOf" srcId="{2308AC9D-DBB6-4BC2-92AF-93B2295D7274}" destId="{46F3743A-7EC1-49FF-AC3B-E3B2813FD0C4}" srcOrd="6" destOrd="0" presId="urn:microsoft.com/office/officeart/2011/layout/HexagonRadial"/>
    <dgm:cxn modelId="{503775AC-9A74-4831-9E0E-F4F79FE61203}" type="presParOf" srcId="{2308AC9D-DBB6-4BC2-92AF-93B2295D7274}" destId="{B2599CBC-E38A-4C24-8DD9-73E4F80DD0B8}" srcOrd="7" destOrd="0" presId="urn:microsoft.com/office/officeart/2011/layout/HexagonRadial"/>
    <dgm:cxn modelId="{7C06B47B-26EE-4458-A639-BC48DF9E80CC}" type="presParOf" srcId="{B2599CBC-E38A-4C24-8DD9-73E4F80DD0B8}" destId="{569B66CE-4CBC-429E-8969-3DDE76D02870}" srcOrd="0" destOrd="0" presId="urn:microsoft.com/office/officeart/2011/layout/HexagonRadial"/>
    <dgm:cxn modelId="{B14EB8D1-EBAB-4919-B0DA-D038B1C810CE}" type="presParOf" srcId="{2308AC9D-DBB6-4BC2-92AF-93B2295D7274}" destId="{DA042BFE-278B-40B1-ADA9-4EC8AB21F86D}" srcOrd="8" destOrd="0" presId="urn:microsoft.com/office/officeart/2011/layout/HexagonRadial"/>
    <dgm:cxn modelId="{33E324FC-4D05-4526-8437-9C12A7F55E8C}" type="presParOf" srcId="{2308AC9D-DBB6-4BC2-92AF-93B2295D7274}" destId="{75441910-1A53-4E69-A57B-7E1C7431945D}" srcOrd="9" destOrd="0" presId="urn:microsoft.com/office/officeart/2011/layout/HexagonRadial"/>
    <dgm:cxn modelId="{24F6FC11-CC52-45AA-9B7D-561D4FA2935F}" type="presParOf" srcId="{75441910-1A53-4E69-A57B-7E1C7431945D}" destId="{EE58C18E-AFD0-4EE0-91B4-908E4368F46D}" srcOrd="0" destOrd="0" presId="urn:microsoft.com/office/officeart/2011/layout/HexagonRadial"/>
    <dgm:cxn modelId="{885FF597-7917-4EAA-BFC3-269483269EE4}" type="presParOf" srcId="{2308AC9D-DBB6-4BC2-92AF-93B2295D7274}" destId="{90908ECC-0E13-4926-923D-5D9E51D06786}" srcOrd="10" destOrd="0" presId="urn:microsoft.com/office/officeart/2011/layout/HexagonRadial"/>
    <dgm:cxn modelId="{8B792DB9-5B68-4569-8278-AE6356302ECF}" type="presParOf" srcId="{2308AC9D-DBB6-4BC2-92AF-93B2295D7274}" destId="{DB4169FF-CC61-43D9-81E1-A2C518BB03D3}" srcOrd="11" destOrd="0" presId="urn:microsoft.com/office/officeart/2011/layout/HexagonRadial"/>
    <dgm:cxn modelId="{C2361747-CA1F-49F9-84B3-E5998861F15E}" type="presParOf" srcId="{DB4169FF-CC61-43D9-81E1-A2C518BB03D3}" destId="{101B0F2A-38F4-4024-ACE1-3CC73CBC77DF}" srcOrd="0" destOrd="0" presId="urn:microsoft.com/office/officeart/2011/layout/HexagonRadial"/>
    <dgm:cxn modelId="{D937E930-1A98-4AC4-8750-E5510FAD195E}" type="presParOf" srcId="{2308AC9D-DBB6-4BC2-92AF-93B2295D7274}" destId="{AA4A65EA-69A3-480B-B24C-E55C8ECDBA4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940AD-F665-443C-B720-44A312C58750}">
      <dsp:nvSpPr>
        <dsp:cNvPr id="0" name=""/>
        <dsp:cNvSpPr/>
      </dsp:nvSpPr>
      <dsp:spPr>
        <a:xfrm>
          <a:off x="3916058" y="1777411"/>
          <a:ext cx="2296448" cy="1986520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Procedures for at-risk students</a:t>
          </a:r>
        </a:p>
      </dsp:txBody>
      <dsp:txXfrm>
        <a:off x="4296612" y="2106605"/>
        <a:ext cx="1535340" cy="1328132"/>
      </dsp:txXfrm>
    </dsp:sp>
    <dsp:sp modelId="{0A5F0253-D2CC-47FB-B8CD-19EDDC433A95}">
      <dsp:nvSpPr>
        <dsp:cNvPr id="0" name=""/>
        <dsp:cNvSpPr/>
      </dsp:nvSpPr>
      <dsp:spPr>
        <a:xfrm>
          <a:off x="5347531" y="855899"/>
          <a:ext cx="866443" cy="746555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6EDED7-6606-4B9D-9F70-C522CD0E4694}">
      <dsp:nvSpPr>
        <dsp:cNvPr id="0" name=""/>
        <dsp:cNvSpPr/>
      </dsp:nvSpPr>
      <dsp:spPr>
        <a:xfrm>
          <a:off x="4182437" y="98421"/>
          <a:ext cx="1881923" cy="1626375"/>
        </a:xfrm>
        <a:prstGeom prst="hexagon">
          <a:avLst>
            <a:gd name="adj" fmla="val 28570"/>
            <a:gd name="vf" fmla="val 115470"/>
          </a:avLst>
        </a:prstGeom>
        <a:solidFill>
          <a:srgbClr val="1F497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EEECE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Assessment and Reflection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50" kern="1200" dirty="0"/>
            <a:t>discuss the reasons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⁠Identify specific challenges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create a tailored study plan</a:t>
          </a:r>
        </a:p>
      </dsp:txBody>
      <dsp:txXfrm>
        <a:off x="4494149" y="367805"/>
        <a:ext cx="1258499" cy="1087607"/>
      </dsp:txXfrm>
    </dsp:sp>
    <dsp:sp modelId="{1D0E9EEE-4EE0-40FC-96C6-52C45E589D5C}">
      <dsp:nvSpPr>
        <dsp:cNvPr id="0" name=""/>
        <dsp:cNvSpPr/>
      </dsp:nvSpPr>
      <dsp:spPr>
        <a:xfrm>
          <a:off x="6358737" y="2251560"/>
          <a:ext cx="866443" cy="746555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A6611-F09C-4357-B423-60D0876F6AB2}">
      <dsp:nvSpPr>
        <dsp:cNvPr id="0" name=""/>
        <dsp:cNvSpPr/>
      </dsp:nvSpPr>
      <dsp:spPr>
        <a:xfrm>
          <a:off x="5716216" y="908226"/>
          <a:ext cx="2143472" cy="1813539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Academic Support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Customized study plan focusing on specific courses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of tutoring services or study groups </a:t>
          </a:r>
        </a:p>
      </dsp:txBody>
      <dsp:txXfrm>
        <a:off x="6067548" y="1205479"/>
        <a:ext cx="1440808" cy="1219033"/>
      </dsp:txXfrm>
    </dsp:sp>
    <dsp:sp modelId="{569B66CE-4CBC-429E-8969-3DDE76D02870}">
      <dsp:nvSpPr>
        <dsp:cNvPr id="0" name=""/>
        <dsp:cNvSpPr/>
      </dsp:nvSpPr>
      <dsp:spPr>
        <a:xfrm>
          <a:off x="5656288" y="3826999"/>
          <a:ext cx="866443" cy="746555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3743A-7EC1-49FF-AC3B-E3B2813FD0C4}">
      <dsp:nvSpPr>
        <dsp:cNvPr id="0" name=""/>
        <dsp:cNvSpPr/>
      </dsp:nvSpPr>
      <dsp:spPr>
        <a:xfrm>
          <a:off x="5846991" y="2969552"/>
          <a:ext cx="1881923" cy="1628084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Goal Setting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Set realistic short and long-term academic goals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Regularly review and adjust goals </a:t>
          </a:r>
        </a:p>
      </dsp:txBody>
      <dsp:txXfrm>
        <a:off x="6158866" y="3239360"/>
        <a:ext cx="1258173" cy="1088468"/>
      </dsp:txXfrm>
    </dsp:sp>
    <dsp:sp modelId="{EE58C18E-AFD0-4EE0-91B4-908E4368F46D}">
      <dsp:nvSpPr>
        <dsp:cNvPr id="0" name=""/>
        <dsp:cNvSpPr/>
      </dsp:nvSpPr>
      <dsp:spPr>
        <a:xfrm>
          <a:off x="3913786" y="3990535"/>
          <a:ext cx="866443" cy="746555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42BFE-278B-40B1-ADA9-4EC8AB21F86D}">
      <dsp:nvSpPr>
        <dsp:cNvPr id="0" name=""/>
        <dsp:cNvSpPr/>
      </dsp:nvSpPr>
      <dsp:spPr>
        <a:xfrm>
          <a:off x="4121049" y="3972054"/>
          <a:ext cx="1881923" cy="1628084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Time Management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Enhance organizational skills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Teach effective scheduling techniques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Emphasize the importance </a:t>
          </a:r>
        </a:p>
      </dsp:txBody>
      <dsp:txXfrm>
        <a:off x="4432924" y="4241862"/>
        <a:ext cx="1258173" cy="1088468"/>
      </dsp:txXfrm>
    </dsp:sp>
    <dsp:sp modelId="{101B0F2A-38F4-4024-ACE1-3CC73CBC77DF}">
      <dsp:nvSpPr>
        <dsp:cNvPr id="0" name=""/>
        <dsp:cNvSpPr/>
      </dsp:nvSpPr>
      <dsp:spPr>
        <a:xfrm>
          <a:off x="2886020" y="2595434"/>
          <a:ext cx="866443" cy="746555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08ECC-0E13-4926-923D-5D9E51D06786}">
      <dsp:nvSpPr>
        <dsp:cNvPr id="0" name=""/>
        <dsp:cNvSpPr/>
      </dsp:nvSpPr>
      <dsp:spPr>
        <a:xfrm>
          <a:off x="2387094" y="2970672"/>
          <a:ext cx="1881923" cy="1628084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Academic Skills Workshops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Offer workshops 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Provide resources </a:t>
          </a:r>
        </a:p>
      </dsp:txBody>
      <dsp:txXfrm>
        <a:off x="2698969" y="3240480"/>
        <a:ext cx="1258173" cy="1088468"/>
      </dsp:txXfrm>
    </dsp:sp>
    <dsp:sp modelId="{AA4A65EA-69A3-480B-B24C-E55C8ECDBA40}">
      <dsp:nvSpPr>
        <dsp:cNvPr id="0" name=""/>
        <dsp:cNvSpPr/>
      </dsp:nvSpPr>
      <dsp:spPr>
        <a:xfrm>
          <a:off x="2387094" y="998713"/>
          <a:ext cx="1881923" cy="1628084"/>
        </a:xfrm>
        <a:prstGeom prst="hexagon">
          <a:avLst>
            <a:gd name="adj" fmla="val 28570"/>
            <a:gd name="vf" fmla="val 1154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Monitoring and Evaluation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⁠Implement a system for monitoring academic progress </a:t>
          </a:r>
        </a:p>
      </dsp:txBody>
      <dsp:txXfrm>
        <a:off x="2698969" y="1268521"/>
        <a:ext cx="1258173" cy="1088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002" cy="337666"/>
          </a:xfrm>
          <a:prstGeom prst="rect">
            <a:avLst/>
          </a:prstGeom>
        </p:spPr>
        <p:txBody>
          <a:bodyPr vert="horz" lIns="74661" tIns="37330" rIns="74661" bIns="37330" rtlCol="0"/>
          <a:lstStyle>
            <a:lvl1pPr algn="l">
              <a:defRPr sz="10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88906" y="0"/>
            <a:ext cx="4275001" cy="337666"/>
          </a:xfrm>
          <a:prstGeom prst="rect">
            <a:avLst/>
          </a:prstGeom>
        </p:spPr>
        <p:txBody>
          <a:bodyPr vert="horz" lIns="74661" tIns="37330" rIns="74661" bIns="37330" rtlCol="0"/>
          <a:lstStyle>
            <a:lvl1pPr algn="r">
              <a:defRPr sz="1000"/>
            </a:lvl1pPr>
          </a:lstStyle>
          <a:p>
            <a:fld id="{37C7D62D-70D0-B74F-A691-31BC4609A05F}" type="datetimeFigureOut">
              <a:rPr lang="en-SA" smtClean="0"/>
              <a:t>05/11/2026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3363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661" tIns="37330" rIns="74661" bIns="3733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6632" y="3242171"/>
            <a:ext cx="7893050" cy="2651622"/>
          </a:xfrm>
          <a:prstGeom prst="rect">
            <a:avLst/>
          </a:prstGeom>
        </p:spPr>
        <p:txBody>
          <a:bodyPr vert="horz" lIns="74661" tIns="37330" rIns="74661" bIns="3733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98098"/>
            <a:ext cx="4275002" cy="337665"/>
          </a:xfrm>
          <a:prstGeom prst="rect">
            <a:avLst/>
          </a:prstGeom>
        </p:spPr>
        <p:txBody>
          <a:bodyPr vert="horz" lIns="74661" tIns="37330" rIns="74661" bIns="37330" rtlCol="0" anchor="b"/>
          <a:lstStyle>
            <a:lvl1pPr algn="l">
              <a:defRPr sz="10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88906" y="6398098"/>
            <a:ext cx="4275001" cy="337665"/>
          </a:xfrm>
          <a:prstGeom prst="rect">
            <a:avLst/>
          </a:prstGeom>
        </p:spPr>
        <p:txBody>
          <a:bodyPr vert="horz" lIns="74661" tIns="37330" rIns="74661" bIns="37330" rtlCol="0" anchor="b"/>
          <a:lstStyle>
            <a:lvl1pPr algn="r">
              <a:defRPr sz="1000"/>
            </a:lvl1pPr>
          </a:lstStyle>
          <a:p>
            <a:fld id="{DC1056B1-2778-6646-B1FA-9614852213CF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0850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056B1-2778-6646-B1FA-9614852213CF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153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36534" y="1096137"/>
            <a:ext cx="4921884" cy="681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2625" y="4096512"/>
            <a:ext cx="911225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875" y="1682496"/>
            <a:ext cx="566261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4012" y="1682496"/>
            <a:ext cx="566261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5086" y="304800"/>
            <a:ext cx="13019196" cy="680720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9380" tIns="44690" rIns="89380" bIns="44690" numCol="1" anchor="t" anchorCtr="0" compatLnSpc="1">
            <a:prstTxWarp prst="textNoShape">
              <a:avLst/>
            </a:prstTxWarp>
          </a:bodyPr>
          <a:lstStyle/>
          <a:p>
            <a:pPr lvl="0"/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396" y="1950720"/>
            <a:ext cx="10416712" cy="3251201"/>
          </a:xfrm>
        </p:spPr>
        <p:txBody>
          <a:bodyPr>
            <a:normAutofit/>
          </a:bodyPr>
          <a:lstStyle>
            <a:lvl1pPr>
              <a:defRPr sz="434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0395" y="5364481"/>
            <a:ext cx="8382199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939">
                <a:solidFill>
                  <a:schemeClr val="tx1"/>
                </a:solidFill>
              </a:defRPr>
            </a:lvl1pPr>
            <a:lvl2pPr marL="446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93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40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87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3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81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28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75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756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572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397" y="3657601"/>
            <a:ext cx="10416712" cy="2519679"/>
          </a:xfrm>
        </p:spPr>
        <p:txBody>
          <a:bodyPr anchor="b">
            <a:normAutofit/>
          </a:bodyPr>
          <a:lstStyle>
            <a:lvl1pPr algn="l">
              <a:defRPr sz="434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629" y="731522"/>
            <a:ext cx="8386965" cy="12191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939">
                <a:solidFill>
                  <a:schemeClr val="tx1"/>
                </a:solidFill>
              </a:defRPr>
            </a:lvl1pPr>
            <a:lvl2pPr marL="446876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93751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34062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4pPr>
            <a:lvl5pPr marL="1787504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5pPr>
            <a:lvl6pPr marL="223438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6pPr>
            <a:lvl7pPr marL="2681255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7pPr>
            <a:lvl8pPr marL="3128131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8pPr>
            <a:lvl9pPr marL="357500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7126" y="1950720"/>
            <a:ext cx="5028864" cy="46329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 baseline="0"/>
            </a:lvl7pPr>
            <a:lvl8pPr>
              <a:defRPr sz="1570" baseline="0"/>
            </a:lvl8pPr>
            <a:lvl9pPr>
              <a:defRPr sz="157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8243" y="1950720"/>
            <a:ext cx="5028864" cy="46329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25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0395" y="1950720"/>
            <a:ext cx="5029319" cy="89408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09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46876" indent="0">
              <a:buNone/>
              <a:defRPr sz="1939" b="1"/>
            </a:lvl2pPr>
            <a:lvl3pPr marL="893751" indent="0">
              <a:buNone/>
              <a:defRPr sz="1754" b="1"/>
            </a:lvl3pPr>
            <a:lvl4pPr marL="1340628" indent="0">
              <a:buNone/>
              <a:defRPr sz="1570" b="1"/>
            </a:lvl4pPr>
            <a:lvl5pPr marL="1787504" indent="0">
              <a:buNone/>
              <a:defRPr sz="1570" b="1"/>
            </a:lvl5pPr>
            <a:lvl6pPr marL="2234380" indent="0">
              <a:buNone/>
              <a:defRPr sz="1570" b="1"/>
            </a:lvl6pPr>
            <a:lvl7pPr marL="2681255" indent="0">
              <a:buNone/>
              <a:defRPr sz="1570" b="1"/>
            </a:lvl7pPr>
            <a:lvl8pPr marL="3128131" indent="0">
              <a:buNone/>
              <a:defRPr sz="1570" b="1"/>
            </a:lvl8pPr>
            <a:lvl9pPr marL="3575008" indent="0">
              <a:buNone/>
              <a:defRPr sz="1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0395" y="2926081"/>
            <a:ext cx="5029319" cy="3657599"/>
          </a:xfrm>
        </p:spPr>
        <p:txBody>
          <a:bodyPr>
            <a:normAutofit/>
          </a:bodyPr>
          <a:lstStyle>
            <a:lvl1pPr>
              <a:defRPr sz="1939"/>
            </a:lvl1pPr>
            <a:lvl2pPr>
              <a:defRPr sz="1754"/>
            </a:lvl2pPr>
            <a:lvl3pPr>
              <a:defRPr sz="1570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7789" y="1950720"/>
            <a:ext cx="5029319" cy="89408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09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46876" indent="0">
              <a:buNone/>
              <a:defRPr sz="1939" b="1"/>
            </a:lvl2pPr>
            <a:lvl3pPr marL="893751" indent="0">
              <a:buNone/>
              <a:defRPr sz="1754" b="1"/>
            </a:lvl3pPr>
            <a:lvl4pPr marL="1340628" indent="0">
              <a:buNone/>
              <a:defRPr sz="1570" b="1"/>
            </a:lvl4pPr>
            <a:lvl5pPr marL="1787504" indent="0">
              <a:buNone/>
              <a:defRPr sz="1570" b="1"/>
            </a:lvl5pPr>
            <a:lvl6pPr marL="2234380" indent="0">
              <a:buNone/>
              <a:defRPr sz="1570" b="1"/>
            </a:lvl6pPr>
            <a:lvl7pPr marL="2681255" indent="0">
              <a:buNone/>
              <a:defRPr sz="1570" b="1"/>
            </a:lvl7pPr>
            <a:lvl8pPr marL="3128131" indent="0">
              <a:buNone/>
              <a:defRPr sz="1570" b="1"/>
            </a:lvl8pPr>
            <a:lvl9pPr marL="3575008" indent="0">
              <a:buNone/>
              <a:defRPr sz="15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7789" y="2926081"/>
            <a:ext cx="5029319" cy="3657599"/>
          </a:xfrm>
        </p:spPr>
        <p:txBody>
          <a:bodyPr>
            <a:normAutofit/>
          </a:bodyPr>
          <a:lstStyle>
            <a:lvl1pPr>
              <a:defRPr sz="1939"/>
            </a:lvl1pPr>
            <a:lvl2pPr>
              <a:defRPr sz="1754"/>
            </a:lvl2pPr>
            <a:lvl3pPr>
              <a:defRPr sz="1570"/>
            </a:lvl3pPr>
            <a:lvl4pPr>
              <a:defRPr sz="1385"/>
            </a:lvl4pPr>
            <a:lvl5pPr>
              <a:defRPr sz="1385"/>
            </a:lvl5pPr>
            <a:lvl6pPr>
              <a:defRPr sz="1385"/>
            </a:lvl6pPr>
            <a:lvl7pPr>
              <a:defRPr sz="1385"/>
            </a:lvl7pPr>
            <a:lvl8pPr>
              <a:defRPr sz="1385" baseline="0"/>
            </a:lvl8pPr>
            <a:lvl9pPr>
              <a:defRPr sz="1385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989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149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097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532184" cy="7315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380" tIns="44690" rIns="89380" bIns="44690" rtlCol="0" anchor="ctr"/>
          <a:lstStyle/>
          <a:p>
            <a:pPr lvl="0"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731" y="731520"/>
            <a:ext cx="4150409" cy="4307840"/>
          </a:xfrm>
        </p:spPr>
        <p:txBody>
          <a:bodyPr anchor="b">
            <a:noAutofit/>
          </a:bodyPr>
          <a:lstStyle>
            <a:lvl1pPr algn="l">
              <a:defRPr sz="3878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4610" y="731520"/>
            <a:ext cx="6022162" cy="5852160"/>
          </a:xfrm>
        </p:spPr>
        <p:txBody>
          <a:bodyPr>
            <a:normAutofit/>
          </a:bodyPr>
          <a:lstStyle>
            <a:lvl1pPr>
              <a:defRPr sz="2309"/>
            </a:lvl1pPr>
            <a:lvl2pPr>
              <a:defRPr sz="1939"/>
            </a:lvl2pPr>
            <a:lvl3pPr>
              <a:defRPr sz="1754"/>
            </a:lvl3pPr>
            <a:lvl4pPr>
              <a:defRPr sz="1570"/>
            </a:lvl4pPr>
            <a:lvl5pPr>
              <a:defRPr sz="1570"/>
            </a:lvl5pPr>
            <a:lvl6pPr>
              <a:defRPr sz="1570"/>
            </a:lvl6pPr>
            <a:lvl7pPr>
              <a:defRPr sz="1570"/>
            </a:lvl7pPr>
            <a:lvl8pPr>
              <a:defRPr sz="1570"/>
            </a:lvl8pPr>
            <a:lvl9pPr>
              <a:defRPr sz="15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731" y="5201921"/>
            <a:ext cx="4150409" cy="13817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754"/>
            </a:lvl1pPr>
            <a:lvl2pPr marL="446876" indent="0">
              <a:buNone/>
              <a:defRPr sz="1200"/>
            </a:lvl2pPr>
            <a:lvl3pPr marL="893751" indent="0">
              <a:buNone/>
              <a:defRPr sz="1016"/>
            </a:lvl3pPr>
            <a:lvl4pPr marL="1340628" indent="0">
              <a:buNone/>
              <a:defRPr sz="923"/>
            </a:lvl4pPr>
            <a:lvl5pPr marL="1787504" indent="0">
              <a:buNone/>
              <a:defRPr sz="923"/>
            </a:lvl5pPr>
            <a:lvl6pPr marL="2234380" indent="0">
              <a:buNone/>
              <a:defRPr sz="923"/>
            </a:lvl6pPr>
            <a:lvl7pPr marL="2681255" indent="0">
              <a:buNone/>
              <a:defRPr sz="923"/>
            </a:lvl7pPr>
            <a:lvl8pPr marL="3128131" indent="0">
              <a:buNone/>
              <a:defRPr sz="923"/>
            </a:lvl8pPr>
            <a:lvl9pPr marL="357500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720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532184" cy="7315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380" tIns="44690" rIns="89380" bIns="44690" rtlCol="0" anchor="ctr"/>
          <a:lstStyle/>
          <a:p>
            <a:pPr lvl="0"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731" y="731520"/>
            <a:ext cx="4150409" cy="4307840"/>
          </a:xfrm>
        </p:spPr>
        <p:txBody>
          <a:bodyPr anchor="b">
            <a:noAutofit/>
          </a:bodyPr>
          <a:lstStyle>
            <a:lvl1pPr algn="l">
              <a:defRPr sz="3878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64608" y="731520"/>
            <a:ext cx="6022162" cy="585216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67892">
            <a:normAutofit/>
          </a:bodyPr>
          <a:lstStyle>
            <a:lvl1pPr marL="0" indent="0" algn="ctr">
              <a:buNone/>
              <a:defRPr sz="2309"/>
            </a:lvl1pPr>
            <a:lvl2pPr marL="446876" indent="0">
              <a:buNone/>
              <a:defRPr sz="2770"/>
            </a:lvl2pPr>
            <a:lvl3pPr marL="893751" indent="0">
              <a:buNone/>
              <a:defRPr sz="2309"/>
            </a:lvl3pPr>
            <a:lvl4pPr marL="1340628" indent="0">
              <a:buNone/>
              <a:defRPr sz="1939"/>
            </a:lvl4pPr>
            <a:lvl5pPr marL="1787504" indent="0">
              <a:buNone/>
              <a:defRPr sz="1939"/>
            </a:lvl5pPr>
            <a:lvl6pPr marL="2234380" indent="0">
              <a:buNone/>
              <a:defRPr sz="1939"/>
            </a:lvl6pPr>
            <a:lvl7pPr marL="2681255" indent="0">
              <a:buNone/>
              <a:defRPr sz="1939"/>
            </a:lvl7pPr>
            <a:lvl8pPr marL="3128131" indent="0">
              <a:buNone/>
              <a:defRPr sz="1939"/>
            </a:lvl8pPr>
            <a:lvl9pPr marL="3575008" indent="0">
              <a:buNone/>
              <a:defRPr sz="193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731" y="5201921"/>
            <a:ext cx="4150409" cy="13817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754"/>
            </a:lvl1pPr>
            <a:lvl2pPr marL="446876" indent="0">
              <a:buNone/>
              <a:defRPr sz="1200"/>
            </a:lvl2pPr>
            <a:lvl3pPr marL="893751" indent="0">
              <a:buNone/>
              <a:defRPr sz="1016"/>
            </a:lvl3pPr>
            <a:lvl4pPr marL="1340628" indent="0">
              <a:buNone/>
              <a:defRPr sz="923"/>
            </a:lvl4pPr>
            <a:lvl5pPr marL="1787504" indent="0">
              <a:buNone/>
              <a:defRPr sz="923"/>
            </a:lvl5pPr>
            <a:lvl6pPr marL="2234380" indent="0">
              <a:buNone/>
              <a:defRPr sz="923"/>
            </a:lvl6pPr>
            <a:lvl7pPr marL="2681255" indent="0">
              <a:buNone/>
              <a:defRPr sz="923"/>
            </a:lvl7pPr>
            <a:lvl8pPr marL="3128131" indent="0">
              <a:buNone/>
              <a:defRPr sz="923"/>
            </a:lvl8pPr>
            <a:lvl9pPr marL="357500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474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378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7688" y="731520"/>
            <a:ext cx="2279419" cy="58521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0394" y="731520"/>
            <a:ext cx="7920335" cy="585216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386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153" y="333578"/>
            <a:ext cx="673354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04274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6513" y="2944494"/>
            <a:ext cx="5887720" cy="1894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5950" y="6803136"/>
            <a:ext cx="416560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875" y="6803136"/>
            <a:ext cx="2994025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fld id="{81D60167-4931-47E6-BA6A-407CBD079E47}" type="slidenum">
              <a:rPr/>
              <a:t>‹#›</a:t>
            </a:fld>
            <a:r>
              <a:rPr dirty="0"/>
              <a:t>-</a:t>
            </a:r>
            <a:r>
              <a:rPr spc="-25" dirty="0"/>
              <a:t>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0397" y="292947"/>
            <a:ext cx="10416712" cy="1413933"/>
          </a:xfrm>
          <a:prstGeom prst="rect">
            <a:avLst/>
          </a:prstGeom>
        </p:spPr>
        <p:txBody>
          <a:bodyPr vert="horz" lIns="96789" tIns="48395" rIns="96789" bIns="48395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0397" y="1950720"/>
            <a:ext cx="10416712" cy="4632960"/>
          </a:xfrm>
          <a:prstGeom prst="rect">
            <a:avLst/>
          </a:prstGeom>
        </p:spPr>
        <p:txBody>
          <a:bodyPr vert="horz" lIns="96789" tIns="48395" rIns="96789" bIns="4839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06025" y="6878322"/>
            <a:ext cx="1491186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r">
              <a:defRPr sz="1016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3/30/2016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1021" y="6878322"/>
            <a:ext cx="7089482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l">
              <a:defRPr sz="1016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PMU- A JOURNEY TO GLOBAL CITIZENSHIP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96397" y="6878322"/>
            <a:ext cx="1220710" cy="193039"/>
          </a:xfrm>
          <a:prstGeom prst="rect">
            <a:avLst/>
          </a:prstGeom>
        </p:spPr>
        <p:txBody>
          <a:bodyPr vert="horz" lIns="96789" tIns="48395" rIns="96789" bIns="48395" rtlCol="0" anchor="ctr"/>
          <a:lstStyle>
            <a:lvl1pPr algn="r">
              <a:defRPr sz="1016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83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893751" rtl="0" eaLnBrk="1" latinLnBrk="0" hangingPunct="1">
        <a:lnSpc>
          <a:spcPct val="90000"/>
        </a:lnSpc>
        <a:spcBef>
          <a:spcPct val="0"/>
        </a:spcBef>
        <a:buNone/>
        <a:defRPr sz="3878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68126" indent="-223438" algn="l" defTabSz="893751" rtl="0" eaLnBrk="1" latinLnBrk="0" hangingPunct="1">
        <a:lnSpc>
          <a:spcPct val="90000"/>
        </a:lnSpc>
        <a:spcBef>
          <a:spcPts val="1759"/>
        </a:spcBef>
        <a:buClr>
          <a:schemeClr val="tx1"/>
        </a:buClr>
        <a:buSzPct val="80000"/>
        <a:buFont typeface="Arial" pitchFamily="34" charset="0"/>
        <a:buChar char="•"/>
        <a:defRPr sz="2309" kern="1200">
          <a:solidFill>
            <a:schemeClr val="tx1"/>
          </a:solidFill>
          <a:latin typeface="+mn-lt"/>
          <a:ea typeface="+mn-ea"/>
          <a:cs typeface="+mn-cs"/>
        </a:defRPr>
      </a:lvl1pPr>
      <a:lvl2pPr marL="491564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15002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938439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161877" indent="-223438" algn="l" defTabSz="893751" rtl="0" eaLnBrk="1" latinLnBrk="0" hangingPunct="1">
        <a:lnSpc>
          <a:spcPct val="90000"/>
        </a:lnSpc>
        <a:spcBef>
          <a:spcPts val="586"/>
        </a:spcBef>
        <a:buClr>
          <a:schemeClr val="tx1"/>
        </a:buClr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385315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1608753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1832191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2055630" indent="-223438" algn="l" defTabSz="893751" rtl="0" eaLnBrk="1" latinLnBrk="0" hangingPunct="1">
        <a:spcBef>
          <a:spcPts val="586"/>
        </a:spcBef>
        <a:buSzPct val="80000"/>
        <a:buFont typeface="Arial" pitchFamily="34" charset="0"/>
        <a:buChar char="•"/>
        <a:defRPr sz="157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6876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3751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40628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7504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34380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81255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28131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75008" algn="l" defTabSz="893751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8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20.svg"/><Relationship Id="rId5" Type="http://schemas.openxmlformats.org/officeDocument/2006/relationships/image" Target="../media/image15.pn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43704"/>
            <a:ext cx="5504693" cy="37714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697" y="181483"/>
            <a:ext cx="6733540" cy="8350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n-US" sz="4200" dirty="0">
                <a:latin typeface="Cambria"/>
                <a:cs typeface="Cambria"/>
              </a:rPr>
              <a:t>Smart Academic Advising</a:t>
            </a:r>
            <a:endParaRPr sz="4200" dirty="0">
              <a:latin typeface="Cambria"/>
              <a:cs typeface="Cambri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7150E3-C3A4-A19E-6E0F-000443174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97" y="1147367"/>
            <a:ext cx="9613220" cy="861774"/>
          </a:xfrm>
        </p:spPr>
        <p:txBody>
          <a:bodyPr/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/>
                <a:ea typeface="+mj-ea"/>
              </a:rPr>
              <a:t>Data, Automation, and Strategic Student Success Interventions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304" y="0"/>
            <a:ext cx="9448" cy="73151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26011" y="3563111"/>
            <a:ext cx="393192" cy="3886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51107" y="438912"/>
            <a:ext cx="1155192" cy="1155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821DD9-61E8-DEE9-10DF-B13C8FA90549}"/>
              </a:ext>
            </a:extLst>
          </p:cNvPr>
          <p:cNvSpPr txBox="1"/>
          <p:nvPr/>
        </p:nvSpPr>
        <p:spPr>
          <a:xfrm>
            <a:off x="5975350" y="4583065"/>
            <a:ext cx="4572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Affairs Best Practices Seminar </a:t>
            </a:r>
          </a:p>
          <a:p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Prince Mohammad Bin Fahd University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28C10-B088-3C91-D8D5-AE4E31B7747E}"/>
              </a:ext>
            </a:extLst>
          </p:cNvPr>
          <p:cNvSpPr txBox="1"/>
          <p:nvPr/>
        </p:nvSpPr>
        <p:spPr>
          <a:xfrm>
            <a:off x="174091" y="4583065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Presenter: Maged Soliman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54050" y="0"/>
            <a:ext cx="9448" cy="73151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1367859" y="2414268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492250" y="609600"/>
            <a:ext cx="525780" cy="527303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1-</a:t>
            </a:r>
            <a:r>
              <a:rPr spc="-25" dirty="0"/>
              <a:t>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C4C34-CF12-1175-5CF0-714F66A9E33D}"/>
              </a:ext>
            </a:extLst>
          </p:cNvPr>
          <p:cNvSpPr/>
          <p:nvPr/>
        </p:nvSpPr>
        <p:spPr>
          <a:xfrm>
            <a:off x="0" y="3"/>
            <a:ext cx="6508750" cy="73151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9C1769-2BF6-F123-1269-E68AA3B0A2FA}"/>
              </a:ext>
            </a:extLst>
          </p:cNvPr>
          <p:cNvSpPr/>
          <p:nvPr/>
        </p:nvSpPr>
        <p:spPr>
          <a:xfrm>
            <a:off x="6508750" y="3"/>
            <a:ext cx="6508750" cy="7315197"/>
          </a:xfrm>
          <a:prstGeom prst="rect">
            <a:avLst/>
          </a:prstGeom>
          <a:solidFill>
            <a:srgbClr val="0627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6C902-C022-27A9-E5B9-F1B358B61DC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/>
              <a:t>3/30/2016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1518F-58A5-5D76-B5DE-C4DFA9AFE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E79FD778-F90A-8ADE-41A6-CB24DB9B69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0565D85E-40CE-DC50-AF38-9C92058F32EE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0" name="object 15">
            <a:extLst>
              <a:ext uri="{FF2B5EF4-FFF2-40B4-BE49-F238E27FC236}">
                <a16:creationId xmlns:a16="http://schemas.microsoft.com/office/drawing/2014/main" id="{B941FC34-2722-9E05-2168-2E301FAA15B6}"/>
              </a:ext>
            </a:extLst>
          </p:cNvPr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1" name="object 16">
              <a:extLst>
                <a:ext uri="{FF2B5EF4-FFF2-40B4-BE49-F238E27FC236}">
                  <a16:creationId xmlns:a16="http://schemas.microsoft.com/office/drawing/2014/main" id="{41F1F5E6-4EE7-14B2-3029-6766EA1B7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2" name="object 17">
              <a:extLst>
                <a:ext uri="{FF2B5EF4-FFF2-40B4-BE49-F238E27FC236}">
                  <a16:creationId xmlns:a16="http://schemas.microsoft.com/office/drawing/2014/main" id="{0773E6E7-5CE8-3249-AD53-B365BD419BD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5613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2D2B-9A3F-86DA-8B04-B90AC141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6710F-6723-ACE6-7AC7-B1528247F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3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7169" y="6600443"/>
            <a:ext cx="1412049" cy="7147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6311" y="1143000"/>
            <a:ext cx="6705599" cy="94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1713" y="467815"/>
            <a:ext cx="3240431" cy="675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Introduction</a:t>
            </a:r>
            <a:endParaRPr spc="-25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8564" y="6790943"/>
            <a:ext cx="2382012" cy="52425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1947" y="1301143"/>
            <a:ext cx="11523820" cy="5656677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r>
              <a:rPr lang="en-US" sz="1400" dirty="0"/>
              <a:t>Academic Advising Overview 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Arial"/>
                <a:cs typeface="Arial"/>
              </a:rPr>
              <a:t>Holistic Academic Advising 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Arial"/>
                <a:cs typeface="Arial"/>
              </a:rPr>
              <a:t>Identifying at-risk students 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Arial"/>
                <a:cs typeface="Arial"/>
              </a:rPr>
              <a:t>Technologies utilized: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400" dirty="0">
              <a:latin typeface="Arial"/>
              <a:cs typeface="Arial"/>
            </a:endParaRP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Degreeworks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GPA Calculator 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Banner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Blackboard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E-appointment (virtual Advising)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E-portfolios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Survey</a:t>
            </a:r>
          </a:p>
          <a:p>
            <a:pPr marL="1147763" lvl="8" indent="-233363" algn="l" rtl="0">
              <a:lnSpc>
                <a:spcPct val="15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cs typeface="Arial"/>
              </a:rPr>
              <a:t>Social Media</a:t>
            </a:r>
          </a:p>
          <a:p>
            <a:pPr marL="298450" lvl="6" indent="-285750">
              <a:spcBef>
                <a:spcPts val="110"/>
              </a:spcBef>
              <a:buFont typeface="Wingdings" pitchFamily="2" charset="2"/>
              <a:buChar char="Ø"/>
            </a:pPr>
            <a:endParaRPr lang="en-US" sz="1400" dirty="0">
              <a:latin typeface="Arial"/>
              <a:cs typeface="Arial"/>
            </a:endParaRPr>
          </a:p>
          <a:p>
            <a:pPr marL="298450" lvl="6" indent="-285750">
              <a:spcBef>
                <a:spcPts val="110"/>
              </a:spcBef>
              <a:buFont typeface="Wingdings" pitchFamily="2" charset="2"/>
              <a:buChar char="Ø"/>
            </a:pPr>
            <a:endParaRPr lang="en-US" sz="14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788" y="68580"/>
            <a:ext cx="9448" cy="724661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2-</a:t>
            </a:r>
            <a:r>
              <a:rPr spc="-25" dirty="0"/>
              <a:t>15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38C66F64-C4E3-46C9-BACA-1DB91EAF8029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644" y="0"/>
            <a:ext cx="1488376" cy="9174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26886" y="714645"/>
            <a:ext cx="10459684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400" dirty="0"/>
              <a:t>Importance of academic advising in </a:t>
            </a:r>
            <a:r>
              <a:rPr lang="en-US" dirty="0"/>
              <a:t>student</a:t>
            </a:r>
            <a:r>
              <a:rPr lang="en-US" sz="4400" dirty="0"/>
              <a:t> success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86100" y="0"/>
            <a:ext cx="2382012" cy="77114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lang="en-US" spc="70" dirty="0"/>
              <a:t>3</a:t>
            </a:r>
            <a:r>
              <a:rPr dirty="0"/>
              <a:t>-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05B7D-DFC6-7D24-61C3-D580808C34F9}"/>
              </a:ext>
            </a:extLst>
          </p:cNvPr>
          <p:cNvSpPr txBox="1"/>
          <p:nvPr/>
        </p:nvSpPr>
        <p:spPr>
          <a:xfrm>
            <a:off x="1015211" y="2304012"/>
            <a:ext cx="11812150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A" sz="1400" dirty="0">
                <a:latin typeface="Arial" panose="020B0604020202020204" pitchFamily="34" charset="0"/>
                <a:cs typeface="Arial" panose="020B0604020202020204" pitchFamily="34" charset="0"/>
              </a:rPr>
              <a:t>Student Retention and Success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A" sz="1400" dirty="0">
                <a:latin typeface="Arial" panose="020B0604020202020204" pitchFamily="34" charset="0"/>
                <a:cs typeface="Arial" panose="020B0604020202020204" pitchFamily="34" charset="0"/>
              </a:rPr>
              <a:t>Tailored Study Plan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A" sz="1400" dirty="0">
                <a:latin typeface="Arial" panose="020B0604020202020204" pitchFamily="34" charset="0"/>
                <a:cs typeface="Arial" panose="020B0604020202020204" pitchFamily="34" charset="0"/>
              </a:rPr>
              <a:t>Career Advising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A" sz="1400" dirty="0">
                <a:latin typeface="Arial" panose="020B0604020202020204" pitchFamily="34" charset="0"/>
                <a:cs typeface="Arial" panose="020B0604020202020204" pitchFamily="34" charset="0"/>
              </a:rPr>
              <a:t>Improvement of Academic Performance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A" sz="1400" dirty="0">
                <a:latin typeface="Arial" panose="020B0604020202020204" pitchFamily="34" charset="0"/>
                <a:cs typeface="Arial" panose="020B0604020202020204" pitchFamily="34" charset="0"/>
              </a:rPr>
              <a:t>Development of critical skills (PMU Core Competenices)</a:t>
            </a:r>
          </a:p>
          <a:p>
            <a:pPr marL="406400" lvl="5" indent="128588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S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7AD76128-5A6B-4DC1-B6DE-D9D21FA2223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 flipV="1">
            <a:off x="3460750" y="2048338"/>
            <a:ext cx="9520529" cy="45719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5F7940EF-0D92-4612-8E84-A0D8D725C66A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90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6644" y="0"/>
            <a:ext cx="1488376" cy="9174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70350" y="893945"/>
            <a:ext cx="951108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400" dirty="0">
                <a:latin typeface="Arial"/>
                <a:cs typeface="Arial"/>
              </a:rPr>
              <a:t>Functions of Academic Advising </a:t>
            </a: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86100" y="0"/>
            <a:ext cx="2382012" cy="77114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lang="en-US" spc="70" dirty="0"/>
              <a:t>6</a:t>
            </a:r>
            <a:r>
              <a:rPr dirty="0"/>
              <a:t>-</a:t>
            </a:r>
            <a:r>
              <a:rPr spc="-25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05B7D-DFC6-7D24-61C3-D580808C34F9}"/>
              </a:ext>
            </a:extLst>
          </p:cNvPr>
          <p:cNvSpPr txBox="1"/>
          <p:nvPr/>
        </p:nvSpPr>
        <p:spPr>
          <a:xfrm>
            <a:off x="841772" y="1850516"/>
            <a:ext cx="89085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Educational Planning and Goal Setting</a:t>
            </a:r>
            <a:r>
              <a:rPr lang="ar-SA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39775" lvl="3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Course Selection</a:t>
            </a:r>
          </a:p>
          <a:p>
            <a:pPr marL="855663" lvl="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Degree Planning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Setting Academic Goals:</a:t>
            </a:r>
            <a:endParaRPr lang="ar-SA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Support Academic Support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Tutoring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Writing centers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Study groups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Information Dissemination:</a:t>
            </a: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Policies and Procedures 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Academic policies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Graduation requirements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Institutional procedures</a:t>
            </a:r>
            <a:endParaRPr lang="ar-SA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Developmental Advising</a:t>
            </a: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Skill Development</a:t>
            </a: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Self-Awareness </a:t>
            </a:r>
          </a:p>
          <a:p>
            <a:pPr marL="855663" indent="-115888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Independence</a:t>
            </a:r>
            <a:endParaRPr lang="en-US" sz="1400" dirty="0"/>
          </a:p>
          <a:p>
            <a:pPr marL="406400" lvl="5" algn="l" rtl="0"/>
            <a:endParaRPr lang="en-SA" dirty="0"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2B1FE001-BDD4-46BC-97B5-7671236C350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 flipV="1">
            <a:off x="3512508" y="1561016"/>
            <a:ext cx="9520529" cy="45719"/>
          </a:xfrm>
          <a:prstGeom prst="rect">
            <a:avLst/>
          </a:prstGeom>
        </p:spPr>
      </p:pic>
      <p:pic>
        <p:nvPicPr>
          <p:cNvPr id="4100" name="Picture 4" descr="Academic Advising &amp; USC's Strategic Priorities - Academic Advising |  University of South Carolina">
            <a:extLst>
              <a:ext uri="{FF2B5EF4-FFF2-40B4-BE49-F238E27FC236}">
                <a16:creationId xmlns:a16="http://schemas.microsoft.com/office/drawing/2014/main" id="{A83EA8C1-2241-47A2-8E41-2C2B26CDA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944" y="1858622"/>
            <a:ext cx="4115572" cy="411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bject 3">
            <a:extLst>
              <a:ext uri="{FF2B5EF4-FFF2-40B4-BE49-F238E27FC236}">
                <a16:creationId xmlns:a16="http://schemas.microsoft.com/office/drawing/2014/main" id="{AE0B75E9-7BDF-4131-88B8-2BED16470907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56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A40C-94BC-4347-87F3-884A9A68A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901" y="762000"/>
            <a:ext cx="10928349" cy="1231106"/>
          </a:xfrm>
        </p:spPr>
        <p:txBody>
          <a:bodyPr/>
          <a:lstStyle/>
          <a:p>
            <a:r>
              <a:rPr lang="en-US" sz="4000" dirty="0"/>
              <a:t>The Procedures to deal with at-risk students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582E2EA-0969-490C-85C7-563D744F3B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664149"/>
              </p:ext>
            </p:extLst>
          </p:nvPr>
        </p:nvGraphicFramePr>
        <p:xfrm>
          <a:off x="1519766" y="1603144"/>
          <a:ext cx="10246784" cy="5600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object 3">
            <a:extLst>
              <a:ext uri="{FF2B5EF4-FFF2-40B4-BE49-F238E27FC236}">
                <a16:creationId xmlns:a16="http://schemas.microsoft.com/office/drawing/2014/main" id="{6DD36372-77B3-40BB-AC35-868F52CEF37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41551" y="1527919"/>
            <a:ext cx="10775950" cy="45719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778C1FC5-6A4F-49B0-9D9E-C7B081FD7B80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18D101B4-A913-43FB-B523-C09D8BEC8D55}"/>
              </a:ext>
            </a:extLst>
          </p:cNvPr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426794C4-475D-4580-81D5-189A37F0A4E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96C8A619-72AF-4EB6-B9DC-AFD93F9FCCF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EDB94476-E348-429D-BF22-2BEC83DC62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lang="en-US" spc="70" dirty="0"/>
              <a:t>8</a:t>
            </a:r>
            <a:r>
              <a:rPr dirty="0"/>
              <a:t>-</a:t>
            </a:r>
            <a:r>
              <a:rPr spc="-25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3849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9828" y="137766"/>
            <a:ext cx="11977165" cy="76815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r>
              <a:rPr lang="en-US" sz="4400" dirty="0"/>
              <a:t>Technologies utilized for academic advising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rcRect l="1" t="12335" r="-32935"/>
          <a:stretch/>
        </p:blipFill>
        <p:spPr>
          <a:xfrm>
            <a:off x="835281" y="1066801"/>
            <a:ext cx="12155295" cy="62627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9828" y="2547155"/>
            <a:ext cx="1983739" cy="21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spc="-10" dirty="0">
                <a:solidFill>
                  <a:srgbClr val="042745"/>
                </a:solidFill>
                <a:latin typeface="Arial"/>
                <a:cs typeface="Arial"/>
              </a:rPr>
              <a:t>DEGREEWORK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9818" y="2556533"/>
            <a:ext cx="1983739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spc="-10" dirty="0">
                <a:solidFill>
                  <a:srgbClr val="042745"/>
                </a:solidFill>
                <a:latin typeface="Arial"/>
                <a:cs typeface="Arial"/>
              </a:rPr>
              <a:t>GPA CALCULATOR 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9782" y="2556533"/>
            <a:ext cx="1983739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10"/>
              </a:spcBef>
            </a:pPr>
            <a:r>
              <a:rPr lang="en-US" sz="1300" b="1" dirty="0">
                <a:solidFill>
                  <a:srgbClr val="042745"/>
                </a:solidFill>
                <a:latin typeface="Arial"/>
                <a:cs typeface="Arial"/>
              </a:rPr>
              <a:t>BANNER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82416" y="4894655"/>
            <a:ext cx="8408160" cy="4571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013954" y="2547155"/>
            <a:ext cx="1983739" cy="4289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spc="-10" dirty="0">
                <a:solidFill>
                  <a:srgbClr val="042745"/>
                </a:solidFill>
                <a:latin typeface="Arial"/>
                <a:cs typeface="Arial"/>
              </a:rPr>
              <a:t>E-APPOINTMENT (</a:t>
            </a:r>
            <a:r>
              <a:rPr lang="en-US" sz="1200" dirty="0">
                <a:latin typeface="Arial"/>
                <a:cs typeface="Arial"/>
              </a:rPr>
              <a:t>virtual Advising)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lang="en-US" spc="70" dirty="0"/>
              <a:t>9</a:t>
            </a:r>
            <a:r>
              <a:rPr dirty="0"/>
              <a:t>-</a:t>
            </a:r>
            <a:r>
              <a:rPr spc="-25" dirty="0"/>
              <a:t>15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82416" y="5053357"/>
            <a:ext cx="1212208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110"/>
              </a:spcBef>
            </a:pPr>
            <a:r>
              <a:rPr lang="en-US" sz="1300" b="1" dirty="0">
                <a:solidFill>
                  <a:srgbClr val="042745"/>
                </a:solidFill>
                <a:latin typeface="Arial"/>
                <a:cs typeface="Arial"/>
              </a:rPr>
              <a:t>SURVEY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9357" y="5053678"/>
            <a:ext cx="1983739" cy="21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dirty="0">
                <a:solidFill>
                  <a:srgbClr val="042745"/>
                </a:solidFill>
                <a:latin typeface="Arial"/>
                <a:cs typeface="Arial"/>
              </a:rPr>
              <a:t>BLACKBOARD</a:t>
            </a: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2887654E-05BB-4C1A-A1F9-FA5609E24FFA}"/>
              </a:ext>
            </a:extLst>
          </p:cNvPr>
          <p:cNvSpPr txBox="1"/>
          <p:nvPr/>
        </p:nvSpPr>
        <p:spPr>
          <a:xfrm>
            <a:off x="8215106" y="5058455"/>
            <a:ext cx="1983739" cy="21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dirty="0">
                <a:solidFill>
                  <a:srgbClr val="042745"/>
                </a:solidFill>
                <a:latin typeface="Arial"/>
                <a:cs typeface="Arial"/>
              </a:rPr>
              <a:t>E-PORTFOLIOS</a:t>
            </a: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896A60D3-7C57-4257-B460-644257520BA9}"/>
              </a:ext>
            </a:extLst>
          </p:cNvPr>
          <p:cNvSpPr txBox="1"/>
          <p:nvPr/>
        </p:nvSpPr>
        <p:spPr>
          <a:xfrm>
            <a:off x="10197421" y="5053357"/>
            <a:ext cx="1983739" cy="21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lang="en-US" sz="1300" b="1" dirty="0">
                <a:solidFill>
                  <a:srgbClr val="042745"/>
                </a:solidFill>
                <a:latin typeface="Arial"/>
                <a:cs typeface="Arial"/>
              </a:rPr>
              <a:t>SOCIAL MEDIA</a:t>
            </a:r>
          </a:p>
        </p:txBody>
      </p:sp>
      <p:pic>
        <p:nvPicPr>
          <p:cNvPr id="29" name="Graphic 28" descr="Lightbulb">
            <a:extLst>
              <a:ext uri="{FF2B5EF4-FFF2-40B4-BE49-F238E27FC236}">
                <a16:creationId xmlns:a16="http://schemas.microsoft.com/office/drawing/2014/main" id="{E7CD2D36-FD40-4076-AD64-F60D1773B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22915" y="1710935"/>
            <a:ext cx="603503" cy="603503"/>
          </a:xfrm>
          <a:prstGeom prst="rect">
            <a:avLst/>
          </a:prstGeom>
        </p:spPr>
      </p:pic>
      <p:pic>
        <p:nvPicPr>
          <p:cNvPr id="31" name="Graphic 30" descr="Calculator">
            <a:extLst>
              <a:ext uri="{FF2B5EF4-FFF2-40B4-BE49-F238E27FC236}">
                <a16:creationId xmlns:a16="http://schemas.microsoft.com/office/drawing/2014/main" id="{0FC4D9C2-2273-4133-8043-BF5A244F2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5177" y="1717984"/>
            <a:ext cx="602974" cy="6029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BCAD430-CB44-4E7B-B85F-217DDC0428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2743" y="1714670"/>
            <a:ext cx="1080168" cy="609601"/>
          </a:xfrm>
          <a:prstGeom prst="rect">
            <a:avLst/>
          </a:prstGeom>
        </p:spPr>
      </p:pic>
      <p:pic>
        <p:nvPicPr>
          <p:cNvPr id="34" name="Graphic 33" descr="Call center">
            <a:extLst>
              <a:ext uri="{FF2B5EF4-FFF2-40B4-BE49-F238E27FC236}">
                <a16:creationId xmlns:a16="http://schemas.microsoft.com/office/drawing/2014/main" id="{F0426FD9-C5C3-4A99-8C2D-1658B570E8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05489" y="1710423"/>
            <a:ext cx="602975" cy="602975"/>
          </a:xfrm>
          <a:prstGeom prst="rect">
            <a:avLst/>
          </a:prstGeom>
        </p:spPr>
      </p:pic>
      <p:pic>
        <p:nvPicPr>
          <p:cNvPr id="36" name="Graphic 35" descr="List RTL">
            <a:extLst>
              <a:ext uri="{FF2B5EF4-FFF2-40B4-BE49-F238E27FC236}">
                <a16:creationId xmlns:a16="http://schemas.microsoft.com/office/drawing/2014/main" id="{BC43F102-454E-454B-B481-480F1BE10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06621" y="4305464"/>
            <a:ext cx="601087" cy="6010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34CD26-E72A-4D07-A84B-9EFC749898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1985" y="4224047"/>
            <a:ext cx="606114" cy="584823"/>
          </a:xfrm>
          <a:prstGeom prst="rect">
            <a:avLst/>
          </a:prstGeom>
        </p:spPr>
      </p:pic>
      <p:pic>
        <p:nvPicPr>
          <p:cNvPr id="39" name="Graphic 38" descr="Books">
            <a:extLst>
              <a:ext uri="{FF2B5EF4-FFF2-40B4-BE49-F238E27FC236}">
                <a16:creationId xmlns:a16="http://schemas.microsoft.com/office/drawing/2014/main" id="{C29F3C7B-0C76-48DA-A21E-C37A031A5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05823" y="4199269"/>
            <a:ext cx="609601" cy="609601"/>
          </a:xfrm>
          <a:prstGeom prst="rect">
            <a:avLst/>
          </a:prstGeom>
        </p:spPr>
      </p:pic>
      <p:pic>
        <p:nvPicPr>
          <p:cNvPr id="41" name="Graphic 40" descr="Connections">
            <a:extLst>
              <a:ext uri="{FF2B5EF4-FFF2-40B4-BE49-F238E27FC236}">
                <a16:creationId xmlns:a16="http://schemas.microsoft.com/office/drawing/2014/main" id="{F2282573-9886-4FF4-8A0E-97651E901E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81837" y="4204984"/>
            <a:ext cx="602975" cy="602975"/>
          </a:xfrm>
          <a:prstGeom prst="rect">
            <a:avLst/>
          </a:prstGeom>
        </p:spPr>
      </p:pic>
      <p:pic>
        <p:nvPicPr>
          <p:cNvPr id="43" name="object 3">
            <a:extLst>
              <a:ext uri="{FF2B5EF4-FFF2-40B4-BE49-F238E27FC236}">
                <a16:creationId xmlns:a16="http://schemas.microsoft.com/office/drawing/2014/main" id="{E8E181A7-D6EB-4C15-B1A3-5BB2CE542DEF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59828" y="935068"/>
            <a:ext cx="11757672" cy="45719"/>
          </a:xfrm>
          <a:prstGeom prst="rect">
            <a:avLst/>
          </a:prstGeom>
        </p:spPr>
      </p:pic>
      <p:sp>
        <p:nvSpPr>
          <p:cNvPr id="44" name="object 3">
            <a:extLst>
              <a:ext uri="{FF2B5EF4-FFF2-40B4-BE49-F238E27FC236}">
                <a16:creationId xmlns:a16="http://schemas.microsoft.com/office/drawing/2014/main" id="{E4EA2EC0-E178-40BB-B708-F3C07A0E69DC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22950" y="417553"/>
            <a:ext cx="8060943" cy="845103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r>
              <a:rPr lang="en-US" sz="4400" dirty="0"/>
              <a:t>Success Stories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816588" y="7028564"/>
            <a:ext cx="699134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</a:t>
            </a:r>
            <a:r>
              <a:rPr spc="-25" dirty="0"/>
              <a:t>15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D9D4497-4266-4034-8D4D-B48C285C27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247196"/>
              </p:ext>
            </p:extLst>
          </p:nvPr>
        </p:nvGraphicFramePr>
        <p:xfrm>
          <a:off x="5279392" y="1427431"/>
          <a:ext cx="6537196" cy="5686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5D66285-E7FD-4199-B3F9-3496E22EE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85623"/>
              </p:ext>
            </p:extLst>
          </p:nvPr>
        </p:nvGraphicFramePr>
        <p:xfrm>
          <a:off x="877526" y="2057400"/>
          <a:ext cx="4401867" cy="3200400"/>
        </p:xfrm>
        <a:graphic>
          <a:graphicData uri="http://schemas.openxmlformats.org/drawingml/2006/table">
            <a:tbl>
              <a:tblPr/>
              <a:tblGrid>
                <a:gridCol w="3163375">
                  <a:extLst>
                    <a:ext uri="{9D8B030D-6E8A-4147-A177-3AD203B41FA5}">
                      <a16:colId xmlns:a16="http://schemas.microsoft.com/office/drawing/2014/main" val="256584338"/>
                    </a:ext>
                  </a:extLst>
                </a:gridCol>
                <a:gridCol w="619246">
                  <a:extLst>
                    <a:ext uri="{9D8B030D-6E8A-4147-A177-3AD203B41FA5}">
                      <a16:colId xmlns:a16="http://schemas.microsoft.com/office/drawing/2014/main" val="2346876023"/>
                    </a:ext>
                  </a:extLst>
                </a:gridCol>
                <a:gridCol w="619246">
                  <a:extLst>
                    <a:ext uri="{9D8B030D-6E8A-4147-A177-3AD203B41FA5}">
                      <a16:colId xmlns:a16="http://schemas.microsoft.com/office/drawing/2014/main" val="201135813"/>
                    </a:ext>
                  </a:extLst>
                </a:gridCol>
              </a:tblGrid>
              <a:tr h="67201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Overall Comparative Analysis of Academic standings between 2016-2019 and 2020-2023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878390"/>
                  </a:ext>
                </a:extLst>
              </a:tr>
              <a:tr h="672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2016-2019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2020-2024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30045"/>
                  </a:ext>
                </a:extLst>
              </a:tr>
              <a:tr h="37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49334"/>
                  </a:ext>
                </a:extLst>
              </a:tr>
              <a:tr h="37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84930"/>
                  </a:ext>
                </a:extLst>
              </a:tr>
              <a:tr h="37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CGPA&lt;2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495746"/>
                  </a:ext>
                </a:extLst>
              </a:tr>
              <a:tr h="37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 &amp; R2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3741"/>
                  </a:ext>
                </a:extLst>
              </a:tr>
              <a:tr h="371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Explusion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151465"/>
                  </a:ext>
                </a:extLst>
              </a:tr>
            </a:tbl>
          </a:graphicData>
        </a:graphic>
      </p:graphicFrame>
      <p:pic>
        <p:nvPicPr>
          <p:cNvPr id="14" name="object 3">
            <a:extLst>
              <a:ext uri="{FF2B5EF4-FFF2-40B4-BE49-F238E27FC236}">
                <a16:creationId xmlns:a16="http://schemas.microsoft.com/office/drawing/2014/main" id="{91A4A006-DAF9-4421-9B95-933C5FE0D69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22950" y="1213018"/>
            <a:ext cx="7270751" cy="49638"/>
          </a:xfrm>
          <a:prstGeom prst="rect">
            <a:avLst/>
          </a:prstGeom>
        </p:spPr>
      </p:pic>
      <p:sp>
        <p:nvSpPr>
          <p:cNvPr id="15" name="object 3">
            <a:extLst>
              <a:ext uri="{FF2B5EF4-FFF2-40B4-BE49-F238E27FC236}">
                <a16:creationId xmlns:a16="http://schemas.microsoft.com/office/drawing/2014/main" id="{E8954FAB-1378-4E75-BF5A-677EF5864869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644" y="0"/>
            <a:ext cx="1488376" cy="9174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0431" y="266700"/>
            <a:ext cx="208788" cy="2057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776" y="0"/>
            <a:ext cx="9448" cy="73151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6749" y="1183237"/>
            <a:ext cx="4984115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CONCLUSION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063" y="237743"/>
            <a:ext cx="525780" cy="527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86100" y="0"/>
            <a:ext cx="2382012" cy="77114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Page</a:t>
            </a:r>
            <a:r>
              <a:rPr spc="70" dirty="0"/>
              <a:t> </a:t>
            </a:r>
            <a:r>
              <a:rPr dirty="0"/>
              <a:t>8-</a:t>
            </a:r>
            <a:r>
              <a:rPr spc="-25" dirty="0"/>
              <a:t>15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2353F946-F802-4A39-B590-A9F00E9BC7D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6749" y="1815589"/>
            <a:ext cx="7270751" cy="49638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id="{6377131D-1506-4468-AE6F-E4F810E5A7C7}"/>
              </a:ext>
            </a:extLst>
          </p:cNvPr>
          <p:cNvSpPr txBox="1"/>
          <p:nvPr/>
        </p:nvSpPr>
        <p:spPr>
          <a:xfrm>
            <a:off x="313290" y="3062134"/>
            <a:ext cx="138499" cy="124333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46A272-4DAB-4CAD-A9F9-71E20AC4EC5E}"/>
              </a:ext>
            </a:extLst>
          </p:cNvPr>
          <p:cNvSpPr/>
          <p:nvPr/>
        </p:nvSpPr>
        <p:spPr>
          <a:xfrm>
            <a:off x="998920" y="2497579"/>
            <a:ext cx="8750839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Academic advising is essential for fostering a supportive and effective learning environment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Not only helps students achieve their academic and career goals but also enhances the overall educational experience, contributing to higher retention and graduation rates, student satisfaction, and institutional success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 bwMode="auto">
          <a:xfrm>
            <a:off x="856696" y="1974680"/>
            <a:ext cx="11304110" cy="63480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3878" b="1" cap="all" dirty="0">
                <a:solidFill>
                  <a:srgbClr val="013565"/>
                </a:solidFill>
                <a:latin typeface="+mj-lt"/>
                <a:ea typeface="+mj-ea"/>
                <a:cs typeface="+mj-cs"/>
              </a:rPr>
              <a:t>Prince Mohammad Bin Fahd University </a:t>
            </a:r>
          </a:p>
        </p:txBody>
      </p:sp>
      <p:sp>
        <p:nvSpPr>
          <p:cNvPr id="12" name="Footer Placeholder 4"/>
          <p:cNvSpPr txBox="1">
            <a:spLocks/>
          </p:cNvSpPr>
          <p:nvPr/>
        </p:nvSpPr>
        <p:spPr>
          <a:xfrm>
            <a:off x="2005285" y="6568441"/>
            <a:ext cx="3321447" cy="193039"/>
          </a:xfrm>
          <a:prstGeom prst="rect">
            <a:avLst/>
          </a:prstGeom>
        </p:spPr>
        <p:txBody>
          <a:bodyPr lIns="89380" tIns="44690" rIns="89380" bIns="4469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4357"/>
            <a:r>
              <a:rPr lang="en-US" sz="1016" b="1" dirty="0">
                <a:solidFill>
                  <a:srgbClr val="002060"/>
                </a:solidFill>
                <a:latin typeface="Century Gothic"/>
              </a:rPr>
              <a:t>CREATIVE MINDS… TRANSFORM THE WORLD</a:t>
            </a:r>
          </a:p>
          <a:p>
            <a:pPr defTabSz="844357"/>
            <a:endParaRPr lang="en-US" sz="1016" b="1" dirty="0">
              <a:solidFill>
                <a:srgbClr val="002060"/>
              </a:solidFill>
              <a:latin typeface="Century Gothic"/>
            </a:endParaRPr>
          </a:p>
        </p:txBody>
      </p:sp>
      <p:sp>
        <p:nvSpPr>
          <p:cNvPr id="14" name="Slide Number Placeholder 5"/>
          <p:cNvSpPr txBox="1">
            <a:spLocks/>
          </p:cNvSpPr>
          <p:nvPr/>
        </p:nvSpPr>
        <p:spPr>
          <a:xfrm>
            <a:off x="10042205" y="6502751"/>
            <a:ext cx="1060038" cy="193039"/>
          </a:xfrm>
          <a:prstGeom prst="rect">
            <a:avLst/>
          </a:prstGeom>
        </p:spPr>
        <p:txBody>
          <a:bodyPr lIns="89380" tIns="44690" rIns="89380" bIns="4469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844357"/>
            <a:r>
              <a:rPr lang="en-US" sz="1016" dirty="0">
                <a:solidFill>
                  <a:srgbClr val="002060"/>
                </a:solidFill>
                <a:latin typeface="Century Gothic"/>
              </a:rPr>
              <a:t>11</a:t>
            </a:r>
          </a:p>
        </p:txBody>
      </p:sp>
      <p:pic>
        <p:nvPicPr>
          <p:cNvPr id="9" name="Picture 8" descr="http://www.imagebase.net/var/albums/Concept/World%20Map%20Dar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52" y="3024300"/>
            <a:ext cx="6149997" cy="320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" y="466344"/>
            <a:ext cx="210311" cy="2072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29560" y="1956943"/>
            <a:ext cx="5521960" cy="1971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750" spc="-10" dirty="0">
                <a:solidFill>
                  <a:srgbClr val="F36F21"/>
                </a:solidFill>
                <a:latin typeface="Arial"/>
                <a:cs typeface="Arial"/>
              </a:rPr>
              <a:t>THANK</a:t>
            </a:r>
            <a:endParaRPr sz="127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4015" y="3205099"/>
            <a:ext cx="3540125" cy="1971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750" spc="-25" dirty="0">
                <a:solidFill>
                  <a:srgbClr val="042745"/>
                </a:solidFill>
                <a:latin typeface="Arial"/>
                <a:cs typeface="Arial"/>
              </a:rPr>
              <a:t>YOU</a:t>
            </a:r>
            <a:endParaRPr sz="1275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8755" y="3572255"/>
            <a:ext cx="1266444" cy="12664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608564" y="6600443"/>
            <a:ext cx="2382520" cy="715010"/>
            <a:chOff x="10608564" y="6600443"/>
            <a:chExt cx="2382520" cy="7150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17169" y="6600443"/>
              <a:ext cx="1412049" cy="7147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8564" y="6790943"/>
              <a:ext cx="2382012" cy="52425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735561" y="7028564"/>
            <a:ext cx="746760" cy="1564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pmu.edu.sa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2C1A680-9442-47B7-9BF7-413A1743BC14}"/>
              </a:ext>
            </a:extLst>
          </p:cNvPr>
          <p:cNvSpPr txBox="1"/>
          <p:nvPr/>
        </p:nvSpPr>
        <p:spPr>
          <a:xfrm flipH="1">
            <a:off x="793750" y="3205099"/>
            <a:ext cx="138499" cy="1100365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dirty="0">
                <a:solidFill>
                  <a:srgbClr val="F36F21"/>
                </a:solidFill>
                <a:latin typeface="Arial"/>
                <a:cs typeface="Arial"/>
              </a:rPr>
              <a:t>Academic Advising 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lfZd5oBRC568OB6ERvkl"/>
  <p:tag name="DVSHEQ" val="5579301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69EBF9-F0D8-4FCC-A1E8-D7D8976E28EE}">
  <we:reference id="WA104380955" version="4.1.2.1" store="Omex" storeType="OMEX"/>
  <we:alternateReferences>
    <we:reference id="WA104380955" version="4.1.2.1" store="WA10438095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3038</TotalTime>
  <Words>391</Words>
  <Application>Microsoft Office PowerPoint</Application>
  <PresentationFormat>Custom</PresentationFormat>
  <Paragraphs>149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Cambria</vt:lpstr>
      <vt:lpstr>Century Gothic</vt:lpstr>
      <vt:lpstr>Wingdings</vt:lpstr>
      <vt:lpstr>Office Theme</vt:lpstr>
      <vt:lpstr>Continental World 16x9</vt:lpstr>
      <vt:lpstr>Smart Academic Advising</vt:lpstr>
      <vt:lpstr>PowerPoint Presentation</vt:lpstr>
      <vt:lpstr>PowerPoint Presentation</vt:lpstr>
      <vt:lpstr>PowerPoint Presentation</vt:lpstr>
      <vt:lpstr>Introduction</vt:lpstr>
      <vt:lpstr>Importance of academic advising in student success</vt:lpstr>
      <vt:lpstr>Functions of Academic Advising </vt:lpstr>
      <vt:lpstr>The Procedures to deal with at-risk students </vt:lpstr>
      <vt:lpstr>Technologies utilized for academic advising</vt:lpstr>
      <vt:lpstr>Success Stories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Visme Presentation</dc:title>
  <dc:creator>Mahirah Parker</dc:creator>
  <cp:lastModifiedBy>Siham Amna Shaddad</cp:lastModifiedBy>
  <cp:revision>43</cp:revision>
  <cp:lastPrinted>2024-06-24T07:34:12Z</cp:lastPrinted>
  <dcterms:created xsi:type="dcterms:W3CDTF">2024-06-04T07:17:26Z</dcterms:created>
  <dcterms:modified xsi:type="dcterms:W3CDTF">2026-05-11T08:52:55Z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2024-06-04T00:00:00Z</vt:filetime>
  </property>
  <property fmtid="{D5CDD505-2E9C-101B-9397-08002B2CF9AE}" pid="5" name="Producer">
    <vt:lpwstr>Microsoft® PowerPoint® 2016</vt:lpwstr>
  </property>
</Properties>
</file>