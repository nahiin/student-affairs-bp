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76" r:id="rId5"/>
    <p:sldId id="389" r:id="rId6"/>
    <p:sldId id="388" r:id="rId7"/>
    <p:sldId id="381" r:id="rId8"/>
    <p:sldId id="383" r:id="rId9"/>
    <p:sldId id="386" r:id="rId10"/>
    <p:sldId id="387" r:id="rId11"/>
    <p:sldId id="377" r:id="rId12"/>
    <p:sldId id="384" r:id="rId13"/>
    <p:sldId id="385" r:id="rId14"/>
    <p:sldId id="390" r:id="rId15"/>
    <p:sldId id="391" r:id="rId16"/>
    <p:sldId id="392" r:id="rId17"/>
    <p:sldId id="382" r:id="rId18"/>
  </p:sldIdLst>
  <p:sldSz cx="9906000" cy="6858000" type="A4"/>
  <p:notesSz cx="6735763" cy="9866313"/>
  <p:defaultTextStyle>
    <a:defPPr>
      <a:defRPr lang="en-US"/>
    </a:defPPr>
    <a:lvl1pPr marL="0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2353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4705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7059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9412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11764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14117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16470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18823" algn="l" defTabSz="8047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495">
          <p15:clr>
            <a:srgbClr val="A4A3A4"/>
          </p15:clr>
        </p15:guide>
        <p15:guide id="4" pos="3856">
          <p15:clr>
            <a:srgbClr val="A4A3A4"/>
          </p15:clr>
        </p15:guide>
        <p15:guide id="5" orient="horz" pos="1870">
          <p15:clr>
            <a:srgbClr val="A4A3A4"/>
          </p15:clr>
        </p15:guide>
        <p15:guide id="6" pos="3107">
          <p15:clr>
            <a:srgbClr val="A4A3A4"/>
          </p15:clr>
        </p15:guide>
        <p15:guide id="7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  <p15:guide id="5" orient="horz" pos="2723">
          <p15:clr>
            <a:srgbClr val="A4A3A4"/>
          </p15:clr>
        </p15:guide>
        <p15:guide id="6" orient="horz" pos="2957">
          <p15:clr>
            <a:srgbClr val="A4A3A4"/>
          </p15:clr>
        </p15:guide>
        <p15:guide id="7" pos="2257">
          <p15:clr>
            <a:srgbClr val="A4A3A4"/>
          </p15:clr>
        </p15:guide>
        <p15:guide id="8" pos="2237">
          <p15:clr>
            <a:srgbClr val="A4A3A4"/>
          </p15:clr>
        </p15:guide>
        <p15:guide id="9" orient="horz" pos="3027">
          <p15:clr>
            <a:srgbClr val="A4A3A4"/>
          </p15:clr>
        </p15:guide>
        <p15:guide id="10" orient="horz" pos="3286">
          <p15:clr>
            <a:srgbClr val="A4A3A4"/>
          </p15:clr>
        </p15:guide>
        <p15:guide id="11" orient="horz" pos="2862">
          <p15:clr>
            <a:srgbClr val="A4A3A4"/>
          </p15:clr>
        </p15:guide>
        <p15:guide id="12" orient="horz" pos="3108">
          <p15:clr>
            <a:srgbClr val="A4A3A4"/>
          </p15:clr>
        </p15:guide>
        <p15:guide id="13" pos="2048">
          <p15:clr>
            <a:srgbClr val="A4A3A4"/>
          </p15:clr>
        </p15:guide>
        <p15:guide id="14" pos="2030">
          <p15:clr>
            <a:srgbClr val="A4A3A4"/>
          </p15:clr>
        </p15:guide>
        <p15:guide id="15" pos="2140">
          <p15:clr>
            <a:srgbClr val="A4A3A4"/>
          </p15:clr>
        </p15:guide>
        <p15:guide id="16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949"/>
    <a:srgbClr val="03035D"/>
    <a:srgbClr val="FF6600"/>
    <a:srgbClr val="1870B8"/>
    <a:srgbClr val="482400"/>
    <a:srgbClr val="B97B3D"/>
    <a:srgbClr val="1E96BC"/>
    <a:srgbClr val="189ECE"/>
    <a:srgbClr val="6633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766" autoAdjust="0"/>
  </p:normalViewPr>
  <p:slideViewPr>
    <p:cSldViewPr>
      <p:cViewPr varScale="1">
        <p:scale>
          <a:sx n="62" d="100"/>
          <a:sy n="62" d="100"/>
        </p:scale>
        <p:origin x="1886" y="53"/>
      </p:cViewPr>
      <p:guideLst>
        <p:guide pos="3839"/>
        <p:guide orient="horz" pos="2160"/>
        <p:guide orient="horz" pos="2495"/>
        <p:guide pos="3856"/>
        <p:guide orient="horz" pos="1870"/>
        <p:guide pos="310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  <p:guide orient="horz" pos="3127"/>
        <p:guide pos="2141"/>
        <p:guide orient="horz" pos="2723"/>
        <p:guide orient="horz" pos="2957"/>
        <p:guide pos="2257"/>
        <p:guide pos="2237"/>
        <p:guide orient="horz" pos="3027"/>
        <p:guide orient="horz" pos="3286"/>
        <p:guide orient="horz" pos="2862"/>
        <p:guide orient="horz" pos="3108"/>
        <p:guide pos="2048"/>
        <p:guide pos="2030"/>
        <p:guide pos="2140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6" y="0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D948C4DC-1E45-46DD-A21D-0E51A4227747}" type="datetime1">
              <a:rPr lang="en-US" smtClean="0"/>
              <a:t>6/2/2025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371285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6" y="9371285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6" y="0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D788E9EA-68B7-41A0-9CD1-132D6ADCA977}" type="datetime1">
              <a:rPr lang="en-US" smtClean="0"/>
              <a:t>6/2/2025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741363"/>
            <a:ext cx="5338763" cy="36972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371285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6" y="9371285"/>
            <a:ext cx="2918830" cy="493316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804705" rtl="0" eaLnBrk="1" latinLnBrk="0" hangingPunct="1">
      <a:defRPr sz="11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02353" algn="l" defTabSz="804705" rtl="0" eaLnBrk="1" latinLnBrk="0" hangingPunct="1">
      <a:defRPr sz="11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804705" algn="l" defTabSz="804705" rtl="0" eaLnBrk="1" latinLnBrk="0" hangingPunct="1">
      <a:defRPr sz="11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207059" algn="l" defTabSz="804705" rtl="0" eaLnBrk="1" latinLnBrk="0" hangingPunct="1">
      <a:defRPr sz="11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609412" algn="l" defTabSz="804705" rtl="0" eaLnBrk="1" latinLnBrk="0" hangingPunct="1">
      <a:defRPr sz="11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011764" algn="l" defTabSz="80470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14117" algn="l" defTabSz="80470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16470" algn="l" defTabSz="80470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18823" algn="l" defTabSz="80470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rtl="0"/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"Approximately 50% of college students reported feeling overwhelming anxiety in the past year."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American College Health Association. (2023). National College Health Assessment II: Undergraduate Student Reference Group Executive Summary Spring 2023. Retrieved from [ACHA website].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88E9EA-68B7-41A0-9CD1-132D6ADCA97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0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rtl="0"/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"Only 25% of students with mental health issues seek help."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Eisenberg, D., Hunt, J., &amp; Speer, N. (2021). Help seeking for mental health on college campuses: A systematic review.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Psychological Services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18(3), 215-229. doi:10.1037/ser0000423.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88E9EA-68B7-41A0-9CD1-132D6ADCA97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2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Crisis Intervention and Management</a:t>
            </a:r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"Research indicates that 1 in 5 college students experience a mental health crisis during their academic career.“</a:t>
            </a:r>
            <a:r>
              <a:rPr lang="en-US" sz="1100" kern="1200" baseline="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Kitzrow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M. A. (2022). The mental health needs of today’s college students: Challenges and recommendations.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NASPA Journal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59(1), 167-181. doi:10.2202/1949-6605.1310. </a:t>
            </a:r>
          </a:p>
          <a:p>
            <a:pPr lvl="0" rtl="0"/>
            <a:endParaRPr lang="en-CA" sz="1100" b="1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"Effective crisis intervention can reduce the risk of suicide by up to 90% when appropriate support is provided."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Jobes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D. A., &amp; Mann, J. J. (2021). The role of clinical assessment in the prevention of suicide.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American Journal of Psychiatry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178(10), 911-917. doi:10.1176/appi.ajp.2021.21010001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88E9EA-68B7-41A0-9CD1-132D6ADCA97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87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Crisis Intervention and Management</a:t>
            </a:r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"Research indicates that 1 in 5 college students experience a mental health crisis during their academic career.“</a:t>
            </a:r>
            <a:r>
              <a:rPr lang="en-US" sz="1100" kern="1200" baseline="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Kitzrow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M. A. (2022). The mental health needs of today’s college students: Challenges and recommendations.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NASPA Journal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59(1), 167-181. doi:10.2202/1949-6605.1310. </a:t>
            </a:r>
          </a:p>
          <a:p>
            <a:pPr lvl="0" rtl="0"/>
            <a:endParaRPr lang="en-CA" sz="1100" b="1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"Effective crisis intervention can reduce the risk of suicide by up to 90% when appropriate support is provided."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Jobes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D. A., &amp; Mann, J. J. (2021). The role of clinical assessment in the prevention of suicide.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American Journal of Psychiatry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178(10), 911-917. doi:10.1176/appi.ajp.2021.21010001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88E9EA-68B7-41A0-9CD1-132D6ADCA97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63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Crisis Intervention and Management</a:t>
            </a:r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endParaRPr lang="en-US" sz="1100" b="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"Research indicates that 1 in 5 college students experience a mental health crisis during their academic career.“</a:t>
            </a:r>
            <a:r>
              <a:rPr lang="en-US" sz="1100" kern="1200" baseline="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Kitzrow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M. A. (2022). The mental health needs of today’s college students: Challenges and recommendations.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NASPA Journal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59(1), 167-181. doi:10.2202/1949-6605.1310. </a:t>
            </a:r>
          </a:p>
          <a:p>
            <a:pPr lvl="0" rtl="0"/>
            <a:endParaRPr lang="en-CA" sz="1100" b="1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Statistic: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"Effective crisis intervention can reduce the risk of suicide by up to 90% when appropriate support is provided."</a:t>
            </a:r>
            <a:endParaRPr lang="en-US" sz="1100" kern="1200" dirty="0" smtClean="0">
              <a:solidFill>
                <a:schemeClr val="tx1">
                  <a:lumMod val="50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100" b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100" kern="1200" dirty="0" err="1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Jobes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D. A., &amp; Mann, J. J. (2021). The role of clinical assessment in the prevention of suicide. </a:t>
            </a:r>
            <a:r>
              <a:rPr lang="en-CA" sz="1100" i="1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American Journal of Psychiatry</a:t>
            </a:r>
            <a:r>
              <a:rPr lang="en-CA" sz="1100" kern="1200" dirty="0" smtClean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, 178(10), 911-917. doi:10.1176/appi.ajp.2021.21010001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88E9EA-68B7-41A0-9CD1-132D6ADCA97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6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3871" y="285750"/>
            <a:ext cx="9907291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70" tIns="40236" rIns="80470" bIns="40236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9569" y="1828800"/>
            <a:ext cx="7926864" cy="3048001"/>
          </a:xfrm>
        </p:spPr>
        <p:txBody>
          <a:bodyPr>
            <a:normAutofit/>
          </a:bodyPr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9569" y="5029201"/>
            <a:ext cx="6378649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700">
                <a:solidFill>
                  <a:schemeClr val="tx1"/>
                </a:solidFill>
              </a:defRPr>
            </a:lvl1pPr>
            <a:lvl2pPr marL="402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4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7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11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14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16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18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570" y="3429001"/>
            <a:ext cx="7926864" cy="2362199"/>
          </a:xfrm>
        </p:spPr>
        <p:txBody>
          <a:bodyPr anchor="b">
            <a:normAutofit/>
          </a:bodyPr>
          <a:lstStyle>
            <a:lvl1pPr algn="l">
              <a:defRPr sz="39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5942" y="685801"/>
            <a:ext cx="6382276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00">
                <a:solidFill>
                  <a:schemeClr val="tx1"/>
                </a:solidFill>
              </a:defRPr>
            </a:lvl1pPr>
            <a:lvl2pPr marL="402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47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70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941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117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141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164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1882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2300" y="1828800"/>
            <a:ext cx="3826843" cy="43434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590" y="1828800"/>
            <a:ext cx="3826843" cy="43434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569" y="1828800"/>
            <a:ext cx="3827189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1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02353" indent="0">
              <a:buNone/>
              <a:defRPr sz="1700" b="1"/>
            </a:lvl2pPr>
            <a:lvl3pPr marL="804705" indent="0">
              <a:buNone/>
              <a:defRPr sz="1600" b="1"/>
            </a:lvl3pPr>
            <a:lvl4pPr marL="1207059" indent="0">
              <a:buNone/>
              <a:defRPr sz="1400" b="1"/>
            </a:lvl4pPr>
            <a:lvl5pPr marL="1609412" indent="0">
              <a:buNone/>
              <a:defRPr sz="1400" b="1"/>
            </a:lvl5pPr>
            <a:lvl6pPr marL="2011764" indent="0">
              <a:buNone/>
              <a:defRPr sz="1400" b="1"/>
            </a:lvl6pPr>
            <a:lvl7pPr marL="2414117" indent="0">
              <a:buNone/>
              <a:defRPr sz="1400" b="1"/>
            </a:lvl7pPr>
            <a:lvl8pPr marL="2816470" indent="0">
              <a:buNone/>
              <a:defRPr sz="1400" b="1"/>
            </a:lvl8pPr>
            <a:lvl9pPr marL="3218823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9569" y="2743201"/>
            <a:ext cx="3827189" cy="3428999"/>
          </a:xfrm>
        </p:spPr>
        <p:txBody>
          <a:bodyPr>
            <a:normAutofit/>
          </a:bodyPr>
          <a:lstStyle>
            <a:lvl1pPr>
              <a:defRPr sz="17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9245" y="1828800"/>
            <a:ext cx="3827189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1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02353" indent="0">
              <a:buNone/>
              <a:defRPr sz="1700" b="1"/>
            </a:lvl2pPr>
            <a:lvl3pPr marL="804705" indent="0">
              <a:buNone/>
              <a:defRPr sz="1600" b="1"/>
            </a:lvl3pPr>
            <a:lvl4pPr marL="1207059" indent="0">
              <a:buNone/>
              <a:defRPr sz="1400" b="1"/>
            </a:lvl4pPr>
            <a:lvl5pPr marL="1609412" indent="0">
              <a:buNone/>
              <a:defRPr sz="1400" b="1"/>
            </a:lvl5pPr>
            <a:lvl6pPr marL="2011764" indent="0">
              <a:buNone/>
              <a:defRPr sz="1400" b="1"/>
            </a:lvl6pPr>
            <a:lvl7pPr marL="2414117" indent="0">
              <a:buNone/>
              <a:defRPr sz="1400" b="1"/>
            </a:lvl7pPr>
            <a:lvl8pPr marL="2816470" indent="0">
              <a:buNone/>
              <a:defRPr sz="1400" b="1"/>
            </a:lvl8pPr>
            <a:lvl9pPr marL="3218823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9245" y="2743201"/>
            <a:ext cx="3827189" cy="3428999"/>
          </a:xfrm>
        </p:spPr>
        <p:txBody>
          <a:bodyPr>
            <a:normAutofit/>
          </a:bodyPr>
          <a:lstStyle>
            <a:lvl1pPr>
              <a:defRPr sz="17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 baseline="0"/>
            </a:lvl8pPr>
            <a:lvl9pPr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209857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70" tIns="40236" rIns="80470" bIns="40236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068" y="685800"/>
            <a:ext cx="3158360" cy="4038600"/>
          </a:xfrm>
        </p:spPr>
        <p:txBody>
          <a:bodyPr anchor="b">
            <a:noAutofit/>
          </a:bodyPr>
          <a:lstStyle>
            <a:lvl1pPr algn="l">
              <a:defRPr sz="35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15" y="685800"/>
            <a:ext cx="4582719" cy="54864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7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068" y="4876801"/>
            <a:ext cx="315836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02353" indent="0">
              <a:buNone/>
              <a:defRPr sz="1100"/>
            </a:lvl2pPr>
            <a:lvl3pPr marL="804705" indent="0">
              <a:buNone/>
              <a:defRPr sz="900"/>
            </a:lvl3pPr>
            <a:lvl4pPr marL="1207059" indent="0">
              <a:buNone/>
              <a:defRPr sz="800"/>
            </a:lvl4pPr>
            <a:lvl5pPr marL="1609412" indent="0">
              <a:buNone/>
              <a:defRPr sz="800"/>
            </a:lvl5pPr>
            <a:lvl6pPr marL="2011764" indent="0">
              <a:buNone/>
              <a:defRPr sz="800"/>
            </a:lvl6pPr>
            <a:lvl7pPr marL="2414117" indent="0">
              <a:buNone/>
              <a:defRPr sz="800"/>
            </a:lvl7pPr>
            <a:lvl8pPr marL="2816470" indent="0">
              <a:buNone/>
              <a:defRPr sz="800"/>
            </a:lvl8pPr>
            <a:lvl9pPr marL="3218823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209857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70" tIns="40236" rIns="80470" bIns="40236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068" y="685800"/>
            <a:ext cx="3158360" cy="4038600"/>
          </a:xfrm>
        </p:spPr>
        <p:txBody>
          <a:bodyPr anchor="b">
            <a:noAutofit/>
          </a:bodyPr>
          <a:lstStyle>
            <a:lvl1pPr algn="l">
              <a:defRPr sz="35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67214" y="685800"/>
            <a:ext cx="458271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804705">
            <a:normAutofit/>
          </a:bodyPr>
          <a:lstStyle>
            <a:lvl1pPr marL="0" indent="0" algn="ctr">
              <a:buNone/>
              <a:defRPr sz="2100"/>
            </a:lvl1pPr>
            <a:lvl2pPr marL="402353" indent="0">
              <a:buNone/>
              <a:defRPr sz="2500"/>
            </a:lvl2pPr>
            <a:lvl3pPr marL="804705" indent="0">
              <a:buNone/>
              <a:defRPr sz="2100"/>
            </a:lvl3pPr>
            <a:lvl4pPr marL="1207059" indent="0">
              <a:buNone/>
              <a:defRPr sz="1700"/>
            </a:lvl4pPr>
            <a:lvl5pPr marL="1609412" indent="0">
              <a:buNone/>
              <a:defRPr sz="1700"/>
            </a:lvl5pPr>
            <a:lvl6pPr marL="2011764" indent="0">
              <a:buNone/>
              <a:defRPr sz="1700"/>
            </a:lvl6pPr>
            <a:lvl7pPr marL="2414117" indent="0">
              <a:buNone/>
              <a:defRPr sz="1700"/>
            </a:lvl7pPr>
            <a:lvl8pPr marL="2816470" indent="0">
              <a:buNone/>
              <a:defRPr sz="1700"/>
            </a:lvl8pPr>
            <a:lvl9pPr marL="3218823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068" y="4876801"/>
            <a:ext cx="315836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02353" indent="0">
              <a:buNone/>
              <a:defRPr sz="1100"/>
            </a:lvl2pPr>
            <a:lvl3pPr marL="804705" indent="0">
              <a:buNone/>
              <a:defRPr sz="900"/>
            </a:lvl3pPr>
            <a:lvl4pPr marL="1207059" indent="0">
              <a:buNone/>
              <a:defRPr sz="800"/>
            </a:lvl4pPr>
            <a:lvl5pPr marL="1609412" indent="0">
              <a:buNone/>
              <a:defRPr sz="800"/>
            </a:lvl5pPr>
            <a:lvl6pPr marL="2011764" indent="0">
              <a:buNone/>
              <a:defRPr sz="800"/>
            </a:lvl6pPr>
            <a:lvl7pPr marL="2414117" indent="0">
              <a:buNone/>
              <a:defRPr sz="800"/>
            </a:lvl7pPr>
            <a:lvl8pPr marL="2816470" indent="0">
              <a:buNone/>
              <a:defRPr sz="800"/>
            </a:lvl8pPr>
            <a:lvl9pPr marL="3218823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1" y="685800"/>
            <a:ext cx="173458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568" y="685800"/>
            <a:ext cx="6027182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570" y="274638"/>
            <a:ext cx="7926864" cy="1325562"/>
          </a:xfrm>
          <a:prstGeom prst="rect">
            <a:avLst/>
          </a:prstGeom>
        </p:spPr>
        <p:txBody>
          <a:bodyPr vert="horz" lIns="80470" tIns="40236" rIns="80470" bIns="40236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570" y="1828800"/>
            <a:ext cx="7926864" cy="4343400"/>
          </a:xfrm>
          <a:prstGeom prst="rect">
            <a:avLst/>
          </a:prstGeom>
        </p:spPr>
        <p:txBody>
          <a:bodyPr vert="horz" lIns="80470" tIns="40236" rIns="80470" bIns="4023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5073" y="6448427"/>
            <a:ext cx="1134756" cy="180974"/>
          </a:xfrm>
          <a:prstGeom prst="rect">
            <a:avLst/>
          </a:prstGeom>
        </p:spPr>
        <p:txBody>
          <a:bodyPr vert="horz" lIns="80470" tIns="40236" rIns="80470" bIns="40236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3/30/2016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82436" y="6448427"/>
            <a:ext cx="5394923" cy="180974"/>
          </a:xfrm>
          <a:prstGeom prst="rect">
            <a:avLst/>
          </a:prstGeom>
        </p:spPr>
        <p:txBody>
          <a:bodyPr vert="horz" lIns="80470" tIns="40236" rIns="80470" bIns="40236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PMU- A JOURNEY TO GLOBAL CITIZENSHIP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87503" y="6448427"/>
            <a:ext cx="928930" cy="180974"/>
          </a:xfrm>
          <a:prstGeom prst="rect">
            <a:avLst/>
          </a:prstGeom>
        </p:spPr>
        <p:txBody>
          <a:bodyPr vert="horz" lIns="80470" tIns="40236" rIns="80470" bIns="40236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804705" rtl="0" eaLnBrk="1" latinLnBrk="0" hangingPunct="1">
        <a:lnSpc>
          <a:spcPct val="90000"/>
        </a:lnSpc>
        <a:spcBef>
          <a:spcPct val="0"/>
        </a:spcBef>
        <a:buNone/>
        <a:defRPr sz="35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41412" indent="-201176" algn="l" defTabSz="804705" rtl="0" eaLnBrk="1" latinLnBrk="0" hangingPunct="1">
        <a:lnSpc>
          <a:spcPct val="90000"/>
        </a:lnSpc>
        <a:spcBef>
          <a:spcPts val="1584"/>
        </a:spcBef>
        <a:buClr>
          <a:schemeClr val="tx1"/>
        </a:buClr>
        <a:buSzPct val="80000"/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42588" indent="-201176" algn="l" defTabSz="804705" rtl="0" eaLnBrk="1" latinLnBrk="0" hangingPunct="1">
        <a:lnSpc>
          <a:spcPct val="90000"/>
        </a:lnSpc>
        <a:spcBef>
          <a:spcPts val="528"/>
        </a:spcBef>
        <a:buClr>
          <a:schemeClr val="tx1"/>
        </a:buClr>
        <a:buSzPct val="80000"/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43765" indent="-201176" algn="l" defTabSz="804705" rtl="0" eaLnBrk="1" latinLnBrk="0" hangingPunct="1">
        <a:lnSpc>
          <a:spcPct val="90000"/>
        </a:lnSpc>
        <a:spcBef>
          <a:spcPts val="528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44941" indent="-201176" algn="l" defTabSz="804705" rtl="0" eaLnBrk="1" latinLnBrk="0" hangingPunct="1">
        <a:lnSpc>
          <a:spcPct val="90000"/>
        </a:lnSpc>
        <a:spcBef>
          <a:spcPts val="528"/>
        </a:spcBef>
        <a:buClr>
          <a:schemeClr val="tx1"/>
        </a:buClr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46117" indent="-201176" algn="l" defTabSz="804705" rtl="0" eaLnBrk="1" latinLnBrk="0" hangingPunct="1">
        <a:lnSpc>
          <a:spcPct val="90000"/>
        </a:lnSpc>
        <a:spcBef>
          <a:spcPts val="528"/>
        </a:spcBef>
        <a:buClr>
          <a:schemeClr val="tx1"/>
        </a:buClr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47294" indent="-201176" algn="l" defTabSz="804705" rtl="0" eaLnBrk="1" latinLnBrk="0" hangingPunct="1">
        <a:spcBef>
          <a:spcPts val="528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448470" indent="-201176" algn="l" defTabSz="804705" rtl="0" eaLnBrk="1" latinLnBrk="0" hangingPunct="1">
        <a:spcBef>
          <a:spcPts val="528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49646" indent="-201176" algn="l" defTabSz="804705" rtl="0" eaLnBrk="1" latinLnBrk="0" hangingPunct="1">
        <a:spcBef>
          <a:spcPts val="528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50824" indent="-201176" algn="l" defTabSz="804705" rtl="0" eaLnBrk="1" latinLnBrk="0" hangingPunct="1">
        <a:spcBef>
          <a:spcPts val="528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2353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4705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59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9412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764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14117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16470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18823" algn="l" defTabSz="8047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1" y="5059097"/>
            <a:ext cx="4047679" cy="11035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01286"/>
            <a:ext cx="5115607" cy="1219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249" y="1939945"/>
            <a:ext cx="93726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3000" b="1" dirty="0" smtClean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Best Practices </a:t>
            </a:r>
            <a:r>
              <a:rPr kumimoji="1" lang="en-US" altLang="zh-CN" sz="30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in University Counseling Services</a:t>
            </a:r>
            <a:endParaRPr kumimoji="1" lang="zh-CN" altLang="en-US" sz="3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02984" y="3654002"/>
            <a:ext cx="55626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/>
              <a:t>Osama Abdullah</a:t>
            </a:r>
          </a:p>
          <a:p>
            <a:pPr algn="ctr">
              <a:lnSpc>
                <a:spcPct val="90000"/>
              </a:lnSpc>
            </a:pPr>
            <a:r>
              <a:rPr lang="en-US" sz="2400" b="1" dirty="0" smtClean="0"/>
              <a:t>Fall 2026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630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29" name="标题 1"/>
          <p:cNvSpPr txBox="1"/>
          <p:nvPr/>
        </p:nvSpPr>
        <p:spPr>
          <a:xfrm>
            <a:off x="723776" y="1066800"/>
            <a:ext cx="3807509" cy="61118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r>
              <a:rPr lang="en-US" sz="2200" b="1" dirty="0"/>
              <a:t>Seminar Objectives</a:t>
            </a:r>
            <a:endParaRPr kumimoji="1" lang="zh-CN" altLang="en-US" sz="2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2590800"/>
            <a:ext cx="8497198" cy="1809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8103" lvl="1" indent="-285750">
              <a:buFont typeface="Wingdings" panose="05000000000000000000" pitchFamily="2" charset="2"/>
              <a:buChar char="q"/>
            </a:pPr>
            <a:r>
              <a:rPr lang="en-CA" sz="1800" dirty="0"/>
              <a:t>Understand essential components of effective counseling programs.</a:t>
            </a:r>
            <a:endParaRPr lang="en-US" sz="1800" dirty="0"/>
          </a:p>
          <a:p>
            <a:pPr marL="688103" lvl="1" indent="-285750">
              <a:buFont typeface="Wingdings" panose="05000000000000000000" pitchFamily="2" charset="2"/>
              <a:buChar char="q"/>
            </a:pPr>
            <a:r>
              <a:rPr lang="en-CA" sz="1800" dirty="0"/>
              <a:t>Learn practices for providing mental health support.</a:t>
            </a:r>
            <a:endParaRPr lang="en-US" sz="1800" dirty="0"/>
          </a:p>
          <a:p>
            <a:pPr marL="688103" lvl="1" indent="-285750">
              <a:buFont typeface="Wingdings" panose="05000000000000000000" pitchFamily="2" charset="2"/>
              <a:buChar char="q"/>
            </a:pPr>
            <a:r>
              <a:rPr lang="en-CA" sz="1800" dirty="0"/>
              <a:t>Develop crisis intervention skills.</a:t>
            </a:r>
            <a:endParaRPr lang="en-US" sz="1800" dirty="0"/>
          </a:p>
          <a:p>
            <a:pPr marL="688103" lvl="1" indent="-285750">
              <a:buFont typeface="Wingdings" panose="05000000000000000000" pitchFamily="2" charset="2"/>
              <a:buChar char="q"/>
            </a:pPr>
            <a:r>
              <a:rPr lang="en-CA" sz="1800" dirty="0"/>
              <a:t>Explore innovative counseling techniques.</a:t>
            </a:r>
            <a:endParaRPr lang="en-US" sz="1800" dirty="0"/>
          </a:p>
          <a:p>
            <a:pPr marL="688103" lvl="1" indent="-285750">
              <a:buFont typeface="Wingdings" panose="05000000000000000000" pitchFamily="2" charset="2"/>
              <a:buChar char="q"/>
            </a:pPr>
            <a:r>
              <a:rPr lang="en-CA" sz="1800" dirty="0"/>
              <a:t>Foster a supportive campus environment.</a:t>
            </a:r>
            <a:endParaRPr lang="en-US" sz="18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151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22" name="标题 1"/>
          <p:cNvSpPr txBox="1"/>
          <p:nvPr/>
        </p:nvSpPr>
        <p:spPr>
          <a:xfrm>
            <a:off x="9144000" y="3125943"/>
            <a:ext cx="533400" cy="53165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400"/>
          </a:p>
        </p:txBody>
      </p:sp>
      <p:sp>
        <p:nvSpPr>
          <p:cNvPr id="23" name="标题 1"/>
          <p:cNvSpPr txBox="1"/>
          <p:nvPr/>
        </p:nvSpPr>
        <p:spPr>
          <a:xfrm>
            <a:off x="696000" y="1215193"/>
            <a:ext cx="74574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lvl="3"/>
            <a:r>
              <a:rPr lang="en-CA" sz="2200" b="1" dirty="0"/>
              <a:t>Importance of Counseling in Student Affairs</a:t>
            </a:r>
            <a:endParaRPr lang="en-US" sz="2200" b="1" dirty="0"/>
          </a:p>
        </p:txBody>
      </p:sp>
      <p:cxnSp>
        <p:nvCxnSpPr>
          <p:cNvPr id="24" name="线条 1"/>
          <p:cNvCxnSpPr/>
          <p:nvPr/>
        </p:nvCxnSpPr>
        <p:spPr>
          <a:xfrm>
            <a:off x="696000" y="1021266"/>
            <a:ext cx="10800000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/>
                </a:gs>
                <a:gs pos="8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3" name="TextBox 2"/>
          <p:cNvSpPr txBox="1"/>
          <p:nvPr/>
        </p:nvSpPr>
        <p:spPr>
          <a:xfrm>
            <a:off x="836443" y="2438400"/>
            <a:ext cx="823135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CA" sz="2000" dirty="0" smtClean="0"/>
              <a:t>The </a:t>
            </a:r>
            <a:r>
              <a:rPr lang="en-CA" sz="2000" dirty="0"/>
              <a:t>role of counseling in student success. Our primary mission is to provide assistance, helping students to succeed academically and in life</a:t>
            </a:r>
            <a:r>
              <a:rPr lang="en-US" sz="2000" dirty="0"/>
              <a:t>. AND we are committed to providing a safe place for students, where they can be heard and empowered to realize their own identity and potential as future leaders</a:t>
            </a:r>
            <a:r>
              <a:rPr lang="en-US" sz="2000" dirty="0" smtClean="0"/>
              <a:t>.</a:t>
            </a:r>
          </a:p>
          <a:p>
            <a:pPr lvl="1"/>
            <a:endParaRPr lang="en-US" sz="2000" dirty="0"/>
          </a:p>
          <a:p>
            <a:pPr lvl="1"/>
            <a:r>
              <a:rPr lang="en-CA" sz="2000" b="1" i="1" dirty="0" smtClean="0"/>
              <a:t>“According </a:t>
            </a:r>
            <a:r>
              <a:rPr lang="en-CA" sz="2000" b="1" i="1" dirty="0"/>
              <a:t>to the American College Health Association, 63% of college students felt overwhelming anxiety in the past year</a:t>
            </a:r>
            <a:r>
              <a:rPr lang="en-CA" sz="2000" b="1" i="1" dirty="0" smtClean="0"/>
              <a:t>.“ </a:t>
            </a:r>
            <a:r>
              <a:rPr lang="en-CA" sz="2000" dirty="0" smtClean="0">
                <a:solidFill>
                  <a:schemeClr val="tx1">
                    <a:lumMod val="50000"/>
                  </a:schemeClr>
                </a:solidFill>
              </a:rPr>
              <a:t>American </a:t>
            </a:r>
            <a:r>
              <a:rPr lang="en-CA" sz="2000" dirty="0">
                <a:solidFill>
                  <a:schemeClr val="tx1">
                    <a:lumMod val="50000"/>
                  </a:schemeClr>
                </a:solidFill>
              </a:rPr>
              <a:t>College Health Association. (2023).</a:t>
            </a:r>
            <a:endParaRPr lang="en-US" sz="2000" b="1" i="1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138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96AB6-90C1-4930-BDF9-790F4E72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942" y="3276600"/>
            <a:ext cx="3024728" cy="22656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276601"/>
            <a:ext cx="6477000" cy="242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5253" lvl="1" indent="-342900">
              <a:buFont typeface="Wingdings" panose="05000000000000000000" pitchFamily="2" charset="2"/>
              <a:buChar char="§"/>
            </a:pPr>
            <a:r>
              <a:rPr lang="en-CA" sz="2200" dirty="0" smtClean="0"/>
              <a:t>Accessibility and availability of services.</a:t>
            </a:r>
            <a:endParaRPr lang="en-US" sz="2200" dirty="0" smtClean="0"/>
          </a:p>
          <a:p>
            <a:pPr marL="745253" lvl="1" indent="-342900">
              <a:buFont typeface="Wingdings" panose="05000000000000000000" pitchFamily="2" charset="2"/>
              <a:buChar char="§"/>
            </a:pPr>
            <a:r>
              <a:rPr lang="en-CA" sz="2200" dirty="0" smtClean="0"/>
              <a:t>Trained </a:t>
            </a:r>
            <a:r>
              <a:rPr lang="en-CA" sz="2200" dirty="0"/>
              <a:t>and diverse counseling staff.</a:t>
            </a:r>
            <a:endParaRPr lang="en-US" sz="2200" dirty="0"/>
          </a:p>
          <a:p>
            <a:pPr marL="745253" lvl="1" indent="-342900">
              <a:buFont typeface="Wingdings" panose="05000000000000000000" pitchFamily="2" charset="2"/>
              <a:buChar char="§"/>
            </a:pPr>
            <a:r>
              <a:rPr lang="en-CA" sz="2200" dirty="0"/>
              <a:t>Comprehensive mental health and well-being resources.</a:t>
            </a:r>
            <a:endParaRPr lang="en-US" sz="2200" dirty="0"/>
          </a:p>
          <a:p>
            <a:pPr marL="745253" lvl="1" indent="-342900">
              <a:buFont typeface="Wingdings" panose="05000000000000000000" pitchFamily="2" charset="2"/>
              <a:buChar char="§"/>
            </a:pPr>
            <a:r>
              <a:rPr lang="en-CA" sz="2200" dirty="0"/>
              <a:t>Collaboration with other campus departments.</a:t>
            </a:r>
            <a:endParaRPr lang="en-US" sz="2200" dirty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1220522"/>
            <a:ext cx="62484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CA" sz="2400" b="1" dirty="0"/>
              <a:t>Key Elements of Successful Counseling Services</a:t>
            </a:r>
            <a:endParaRPr lang="en-US" sz="2400" b="1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28600" y="2264271"/>
            <a:ext cx="864870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CA" sz="2000" b="1" i="1" dirty="0"/>
              <a:t>"Only 25% of students with mental health issues seek help."</a:t>
            </a:r>
            <a:endParaRPr lang="en-US" sz="2000" b="1" i="1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518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8664" y="1229749"/>
            <a:ext cx="6765471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rtl="1"/>
            <a:r>
              <a:rPr lang="en-US" sz="3000" b="1" dirty="0">
                <a:solidFill>
                  <a:srgbClr val="002060"/>
                </a:solidFill>
              </a:rPr>
              <a:t>Outreach Strategies</a:t>
            </a:r>
            <a:endParaRPr lang="ar-SA" sz="30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2287" y="2438400"/>
            <a:ext cx="495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Orientation sessions for new students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Orientation sessions for faculty members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Individual counseling sessions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Group counseling sessions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Student club (</a:t>
            </a:r>
            <a:r>
              <a:rPr lang="en-US" sz="1800" b="1" dirty="0"/>
              <a:t>Creative </a:t>
            </a:r>
            <a:r>
              <a:rPr lang="en-US" sz="1800" b="1" dirty="0" smtClean="0"/>
              <a:t>Minds &amp; Vision</a:t>
            </a:r>
            <a:r>
              <a:rPr lang="en-US" sz="1800" dirty="0" smtClean="0"/>
              <a:t>)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Engaging publications (Infographics)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Short films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Referral requests from teachers and students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Lectures for faculty coverage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Awareness tours </a:t>
            </a:r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/>
              <a:t>Official </a:t>
            </a:r>
            <a:r>
              <a:rPr lang="en-US" sz="1800" dirty="0"/>
              <a:t>email (Be-Informed)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Website</a:t>
            </a:r>
          </a:p>
          <a:p>
            <a:pPr algn="r" rtl="1"/>
            <a:endParaRPr lang="en-US" sz="1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967" y="2133600"/>
            <a:ext cx="4589833" cy="409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8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1129" y="943472"/>
            <a:ext cx="4876800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rtl="1"/>
            <a:r>
              <a:rPr lang="en-US" sz="3000" b="1" dirty="0">
                <a:solidFill>
                  <a:srgbClr val="002060"/>
                </a:solidFill>
              </a:rPr>
              <a:t>Outreach Strategies</a:t>
            </a:r>
            <a:endParaRPr lang="ar-SA" sz="30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03" y="2381712"/>
            <a:ext cx="4914426" cy="28760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09600"/>
            <a:ext cx="4336557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1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1129" y="943472"/>
            <a:ext cx="48768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ar-SA" sz="3000" b="1" dirty="0">
                <a:solidFill>
                  <a:srgbClr val="002060"/>
                </a:solidFill>
              </a:rPr>
              <a:t>التقنيات </a:t>
            </a:r>
            <a:r>
              <a:rPr lang="ar-SA" sz="3000" b="1" dirty="0" smtClean="0">
                <a:solidFill>
                  <a:srgbClr val="002060"/>
                </a:solidFill>
              </a:rPr>
              <a:t>والاستراتيجيات للتواصل!</a:t>
            </a:r>
            <a:endParaRPr lang="ar-SA" sz="3000" b="1" dirty="0">
              <a:solidFill>
                <a:srgbClr val="00206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8534400" cy="573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1129" y="943472"/>
            <a:ext cx="4876800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002060"/>
                </a:solidFill>
              </a:rPr>
              <a:t>Workshops</a:t>
            </a:r>
            <a:endParaRPr lang="en-US" sz="30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623638"/>
            <a:ext cx="4953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Stress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Study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Time </a:t>
            </a:r>
            <a:r>
              <a:rPr lang="en-US" b="1" dirty="0"/>
              <a:t>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Mindfulness and Meditation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Test </a:t>
            </a:r>
            <a:r>
              <a:rPr lang="en-US" b="1" dirty="0"/>
              <a:t>Anxiety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Goal Setting and 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Nutrition and Dietary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Direct Support During Final Exams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Health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Mental Health Day</a:t>
            </a:r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20151"/>
            <a:ext cx="4572000" cy="528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9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1129" y="943472"/>
            <a:ext cx="487680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200" b="1" dirty="0"/>
              <a:t>Special Cases and </a:t>
            </a:r>
            <a:r>
              <a:rPr lang="en-US" sz="2200" b="1" dirty="0" smtClean="0"/>
              <a:t>Special Needs</a:t>
            </a:r>
            <a:endParaRPr lang="ar-SA" sz="22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1129" y="2531537"/>
            <a:ext cx="4419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Mental Challenges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Physical Challenges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Auditory and Visual Challenges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Humanitarian Initiatives</a:t>
            </a:r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20151"/>
            <a:ext cx="4572000" cy="528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6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1129" y="943472"/>
            <a:ext cx="487680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en-US" sz="2200" b="1" dirty="0"/>
              <a:t>Academically At-Risk Students</a:t>
            </a:r>
            <a:endParaRPr lang="ar-SA" sz="22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929" y="2498592"/>
            <a:ext cx="4327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 smtClean="0"/>
              <a:t>P1, P2, AD, AR</a:t>
            </a:r>
          </a:p>
          <a:p>
            <a:pPr algn="l"/>
            <a:endParaRPr lang="en-US" sz="2000" b="1" dirty="0"/>
          </a:p>
          <a:p>
            <a:pPr algn="l"/>
            <a:r>
              <a:rPr lang="en-US" dirty="0"/>
              <a:t>Academic Planning, Registration, and Follow-Up</a:t>
            </a:r>
            <a:endParaRPr lang="en-US" sz="2000" b="1" dirty="0"/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120151"/>
            <a:ext cx="4572000" cy="528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1120190"/>
            <a:ext cx="554627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CA" sz="2400" b="1" dirty="0">
                <a:solidFill>
                  <a:schemeClr val="tx1">
                    <a:lumMod val="50000"/>
                  </a:schemeClr>
                </a:solidFill>
              </a:rPr>
              <a:t>Crisis Intervention and Management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929" y="2498592"/>
            <a:ext cx="935627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CA" sz="2200" dirty="0" smtClean="0">
                <a:solidFill>
                  <a:schemeClr val="tx1">
                    <a:lumMod val="50000"/>
                  </a:schemeClr>
                </a:solidFill>
              </a:rPr>
              <a:t>"</a:t>
            </a:r>
            <a:r>
              <a:rPr lang="en-CA" sz="2200" b="1" i="1" dirty="0" smtClean="0">
                <a:solidFill>
                  <a:schemeClr val="tx1">
                    <a:lumMod val="50000"/>
                  </a:schemeClr>
                </a:solidFill>
              </a:rPr>
              <a:t>Research </a:t>
            </a:r>
            <a:r>
              <a:rPr lang="en-CA" sz="2200" b="1" i="1" dirty="0">
                <a:solidFill>
                  <a:schemeClr val="tx1">
                    <a:lumMod val="50000"/>
                  </a:schemeClr>
                </a:solidFill>
              </a:rPr>
              <a:t>indicates that 1 in 5 college students experience a mental health crisis during their academic career</a:t>
            </a:r>
            <a:r>
              <a:rPr lang="en-CA" sz="2200" b="1" i="1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  <a:r>
              <a:rPr lang="en-CA" sz="2200" dirty="0" smtClean="0">
                <a:solidFill>
                  <a:schemeClr val="tx1">
                    <a:lumMod val="50000"/>
                  </a:schemeClr>
                </a:solidFill>
              </a:rPr>
              <a:t>“</a:t>
            </a:r>
            <a:r>
              <a:rPr lang="en-CA" sz="2200" dirty="0" err="1">
                <a:solidFill>
                  <a:schemeClr val="tx1">
                    <a:lumMod val="50000"/>
                  </a:schemeClr>
                </a:solidFill>
              </a:rPr>
              <a:t>Kitzrow</a:t>
            </a:r>
            <a:r>
              <a:rPr lang="en-CA" sz="2200" dirty="0">
                <a:solidFill>
                  <a:schemeClr val="tx1">
                    <a:lumMod val="50000"/>
                  </a:schemeClr>
                </a:solidFill>
              </a:rPr>
              <a:t>, M. A. (2022)</a:t>
            </a:r>
            <a:endParaRPr lang="en-US" sz="2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2"/>
            <a:endParaRPr lang="en-CA" sz="2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2"/>
            <a:r>
              <a:rPr lang="en-CA" sz="2200" dirty="0" smtClean="0">
                <a:solidFill>
                  <a:schemeClr val="tx1">
                    <a:lumMod val="50000"/>
                  </a:schemeClr>
                </a:solidFill>
              </a:rPr>
              <a:t>"</a:t>
            </a:r>
            <a:r>
              <a:rPr lang="en-CA" sz="2200" b="1" i="1" dirty="0">
                <a:solidFill>
                  <a:schemeClr val="tx1">
                    <a:lumMod val="50000"/>
                  </a:schemeClr>
                </a:solidFill>
              </a:rPr>
              <a:t>Effective crisis intervention can reduce the risk of suicide by up to 90% when appropriate support is provided</a:t>
            </a:r>
            <a:r>
              <a:rPr lang="en-CA" sz="2200" dirty="0" smtClean="0">
                <a:solidFill>
                  <a:schemeClr val="tx1">
                    <a:lumMod val="50000"/>
                  </a:schemeClr>
                </a:solidFill>
              </a:rPr>
              <a:t>.“ </a:t>
            </a:r>
            <a:r>
              <a:rPr lang="en-CA" sz="2200" dirty="0" err="1" smtClean="0">
                <a:solidFill>
                  <a:schemeClr val="tx1">
                    <a:lumMod val="50000"/>
                  </a:schemeClr>
                </a:solidFill>
              </a:rPr>
              <a:t>Jobes</a:t>
            </a:r>
            <a:r>
              <a:rPr lang="en-CA" sz="2200" dirty="0">
                <a:solidFill>
                  <a:schemeClr val="tx1">
                    <a:lumMod val="50000"/>
                  </a:schemeClr>
                </a:solidFill>
              </a:rPr>
              <a:t>, D. A., &amp; Mann, J. J. (2021). 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6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1120190"/>
            <a:ext cx="609600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CA" sz="2400" b="1" dirty="0">
                <a:solidFill>
                  <a:schemeClr val="tx1">
                    <a:lumMod val="50000"/>
                  </a:schemeClr>
                </a:solidFill>
              </a:rPr>
              <a:t>Case Studies of Successful Interventions</a:t>
            </a:r>
            <a:endParaRPr 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929" y="2498592"/>
            <a:ext cx="9356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00" dirty="0" smtClean="0">
                <a:solidFill>
                  <a:schemeClr val="tx1">
                    <a:lumMod val="50000"/>
                  </a:schemeClr>
                </a:solidFill>
              </a:rPr>
              <a:t>ADHA </a:t>
            </a:r>
          </a:p>
          <a:p>
            <a:pPr marL="0" lvl="1"/>
            <a:endParaRPr lang="en-US" sz="2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1"/>
            <a:r>
              <a:rPr lang="en-US" sz="2200" dirty="0" smtClean="0">
                <a:solidFill>
                  <a:schemeClr val="tx1">
                    <a:lumMod val="50000"/>
                  </a:schemeClr>
                </a:solidFill>
              </a:rPr>
              <a:t>Suicide 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0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1120190"/>
            <a:ext cx="6096000" cy="4308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3" algn="l"/>
            <a:r>
              <a:rPr lang="en-CA" sz="2200" b="1" dirty="0"/>
              <a:t>Summary of Key </a:t>
            </a:r>
            <a:r>
              <a:rPr lang="en-CA" sz="2200" b="1" dirty="0" smtClean="0"/>
              <a:t>Takeaways</a:t>
            </a:r>
            <a:endParaRPr lang="en-US" sz="2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44929" y="2498592"/>
            <a:ext cx="9356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8103" lvl="1" indent="-285750">
              <a:buFont typeface="Wingdings" panose="05000000000000000000" pitchFamily="2" charset="2"/>
              <a:buChar char="§"/>
            </a:pPr>
            <a:r>
              <a:rPr lang="en-CA" sz="2200" dirty="0" smtClean="0"/>
              <a:t>Recap </a:t>
            </a:r>
            <a:r>
              <a:rPr lang="en-CA" sz="2200" dirty="0"/>
              <a:t>of essential components of effective counseling.</a:t>
            </a:r>
            <a:endParaRPr lang="en-US" sz="2200" dirty="0"/>
          </a:p>
          <a:p>
            <a:pPr marL="688103" lvl="1" indent="-285750">
              <a:buFont typeface="Wingdings" panose="05000000000000000000" pitchFamily="2" charset="2"/>
              <a:buChar char="§"/>
            </a:pPr>
            <a:r>
              <a:rPr lang="en-CA" sz="2200" dirty="0"/>
              <a:t>Importance of mental health support.</a:t>
            </a:r>
            <a:endParaRPr lang="en-US" sz="2200" dirty="0"/>
          </a:p>
          <a:p>
            <a:pPr marL="688103" lvl="1" indent="-285750">
              <a:buFont typeface="Wingdings" panose="05000000000000000000" pitchFamily="2" charset="2"/>
              <a:buChar char="§"/>
            </a:pPr>
            <a:r>
              <a:rPr lang="en-CA" sz="2200" dirty="0"/>
              <a:t>Innovative practices to implement.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9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04800" y="6585856"/>
            <a:ext cx="32766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Creative Minds Transform the World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80952"/>
            <a:ext cx="2362200" cy="5751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889" y="1550256"/>
            <a:ext cx="7558911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Thanks you all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4481"/>
            <a:ext cx="2590800" cy="706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889" y="2335086"/>
            <a:ext cx="8050046" cy="311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950CB1F974F84A8DAF7601D7FACD67" ma:contentTypeVersion="15" ma:contentTypeDescription="Create a new document." ma:contentTypeScope="" ma:versionID="b893b1e4ba8619e8ee13741f46a048cc">
  <xsd:schema xmlns:xsd="http://www.w3.org/2001/XMLSchema" xmlns:xs="http://www.w3.org/2001/XMLSchema" xmlns:p="http://schemas.microsoft.com/office/2006/metadata/properties" xmlns:ns3="7134a6b3-95b7-40ec-a48d-6377dad49a23" xmlns:ns4="32b44088-7c7b-4955-8a0c-ed10615df7bd" targetNamespace="http://schemas.microsoft.com/office/2006/metadata/properties" ma:root="true" ma:fieldsID="29484871542e7c6400b0e787f171d3b0" ns3:_="" ns4:_="">
    <xsd:import namespace="7134a6b3-95b7-40ec-a48d-6377dad49a23"/>
    <xsd:import namespace="32b44088-7c7b-4955-8a0c-ed10615df7b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4a6b3-95b7-40ec-a48d-6377dad49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44088-7c7b-4955-8a0c-ed10615df7b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34a6b3-95b7-40ec-a48d-6377dad49a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06AE32-B505-4A17-A0C2-183ABE36B3F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34a6b3-95b7-40ec-a48d-6377dad49a23"/>
    <ds:schemaRef ds:uri="32b44088-7c7b-4955-8a0c-ed10615df7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57C6B2-1706-468A-BC21-733F42CAF0F7}">
  <ds:schemaRefs>
    <ds:schemaRef ds:uri="http://schemas.openxmlformats.org/package/2006/metadata/core-properties"/>
    <ds:schemaRef ds:uri="http://www.w3.org/XML/1998/namespace"/>
    <ds:schemaRef ds:uri="http://purl.org/dc/terms/"/>
    <ds:schemaRef ds:uri="32b44088-7c7b-4955-8a0c-ed10615df7bd"/>
    <ds:schemaRef ds:uri="http://schemas.microsoft.com/office/2006/documentManagement/types"/>
    <ds:schemaRef ds:uri="http://schemas.microsoft.com/office/2006/metadata/properties"/>
    <ds:schemaRef ds:uri="7134a6b3-95b7-40ec-a48d-6377dad49a23"/>
    <ds:schemaRef ds:uri="http://purl.org/dc/dcmitype/"/>
    <ds:schemaRef ds:uri="http://purl.org/dc/elements/1.1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CDE399D-6CF7-4834-B82B-844460FB17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0</TotalTime>
  <Words>941</Words>
  <Application>Microsoft Office PowerPoint</Application>
  <PresentationFormat>A4 Paper (210x297 mm)</PresentationFormat>
  <Paragraphs>125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Source Han Sans CN Bold</vt:lpstr>
      <vt:lpstr>Tahoma</vt:lpstr>
      <vt:lpstr>Wingdings</vt:lpstr>
      <vt:lpstr>幼圆</vt:lpstr>
      <vt:lpstr>Continental World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2016-03-30T11:37:32Z</dcterms:created>
  <dcterms:modified xsi:type="dcterms:W3CDTF">2025-06-02T08:12:52Z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0x010100EA950CB1F974F84A8DAF7601D7FACD67</vt:lpwstr>
  </property>
</Properties>
</file>