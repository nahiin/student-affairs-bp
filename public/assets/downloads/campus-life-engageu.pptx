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30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9661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1630"/>
          </a:solidFill>
          <a:ln w="12700">
            <a:solidFill>
              <a:srgbClr val="7A163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A1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PMU NEXTGEN ENGAGEU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9224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AFFAIRS • CAMPUS LIFE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4251960" cy="6492240"/>
          </a:xfrm>
          <a:prstGeom prst="rect">
            <a:avLst/>
          </a:prstGeom>
          <a:solidFill>
            <a:srgbClr val="7A1630"/>
          </a:solidFill>
          <a:ln w="12700">
            <a:solidFill>
              <a:srgbClr val="7A163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658368" y="1600200"/>
            <a:ext cx="4592058" cy="1325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PMU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NextGen</a:t>
            </a:r>
            <a:r>
              <a:rPr lang="en-US" sz="3200" dirty="0"/>
              <a:t> </a:t>
            </a:r>
            <a:r>
              <a:rPr lang="en-US" sz="32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EngageU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32461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D9E1"/>
                </a:solidFill>
              </a:rPr>
              <a:t>A Campus Life Best Practice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3895344"/>
            <a:ext cx="2468880" cy="0"/>
          </a:xfrm>
          <a:prstGeom prst="line">
            <a:avLst/>
          </a:prstGeom>
          <a:noFill/>
          <a:ln w="38100">
            <a:solidFill>
              <a:srgbClr val="B9923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4800599" y="1298448"/>
            <a:ext cx="6599903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</a:rPr>
              <a:t>Connecting schools, universities, industries, and partners through one structured engagement ecosystem.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28032" y="52969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Department of Campus Life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28032" y="55961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1630"/>
                </a:solidFill>
              </a:rPr>
              <a:t>Prince Mohammad Bin Fahd University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17" name="Picture 16" descr="A logo with a sun and text&#10;&#10;AI-generated content may be incorrect.">
            <a:extLst>
              <a:ext uri="{FF2B5EF4-FFF2-40B4-BE49-F238E27FC236}">
                <a16:creationId xmlns:a16="http://schemas.microsoft.com/office/drawing/2014/main" id="{9873AA93-C758-63EF-3B40-C39A5321F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94" y="4219149"/>
            <a:ext cx="1559859" cy="1559859"/>
          </a:xfrm>
          <a:prstGeom prst="rect">
            <a:avLst/>
          </a:prstGeom>
        </p:spPr>
      </p:pic>
      <p:pic>
        <p:nvPicPr>
          <p:cNvPr id="19" name="Picture 18" descr="A logo of people in a circle&#10;&#10;AI-generated content may be incorrect.">
            <a:extLst>
              <a:ext uri="{FF2B5EF4-FFF2-40B4-BE49-F238E27FC236}">
                <a16:creationId xmlns:a16="http://schemas.microsoft.com/office/drawing/2014/main" id="{7750FEF6-1FA5-E405-DF4B-A23E16486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464" y="201168"/>
            <a:ext cx="1828801" cy="18288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starting point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opportunities existed—but stakeholders were often separated.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290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73152" cy="1325880"/>
          </a:xfrm>
          <a:prstGeom prst="rect">
            <a:avLst/>
          </a:prstGeom>
          <a:solidFill>
            <a:srgbClr val="B54747"/>
          </a:solidFill>
          <a:ln w="12700">
            <a:solidFill>
              <a:srgbClr val="B5474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850392" y="173736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Separated audiences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2212848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Schools, universities, and industries often engaged through separate initiatives rather than one connected pathway.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70832" y="1554480"/>
            <a:ext cx="34290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Shape 7"/>
          <p:cNvSpPr/>
          <p:nvPr/>
        </p:nvSpPr>
        <p:spPr>
          <a:xfrm>
            <a:off x="4370832" y="1554480"/>
            <a:ext cx="73152" cy="1325880"/>
          </a:xfrm>
          <a:prstGeom prst="rect">
            <a:avLst/>
          </a:prstGeom>
          <a:solidFill>
            <a:srgbClr val="B9923B"/>
          </a:solidFill>
          <a:ln w="12700">
            <a:solidFill>
              <a:srgbClr val="B9923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Text 8"/>
          <p:cNvSpPr/>
          <p:nvPr/>
        </p:nvSpPr>
        <p:spPr>
          <a:xfrm>
            <a:off x="4581144" y="173736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Limited partnership visibility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81144" y="2212848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Potential partners and participants had no single place to discover opportunities, contributions, and outcomes.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01584" y="1554480"/>
            <a:ext cx="34290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3" name="Shape 11"/>
          <p:cNvSpPr/>
          <p:nvPr/>
        </p:nvSpPr>
        <p:spPr>
          <a:xfrm>
            <a:off x="8101584" y="1554480"/>
            <a:ext cx="73152" cy="1325880"/>
          </a:xfrm>
          <a:prstGeom prst="rect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4" name="Text 12"/>
          <p:cNvSpPr/>
          <p:nvPr/>
        </p:nvSpPr>
        <p:spPr>
          <a:xfrm>
            <a:off x="8311896" y="173736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Disconnected impact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11896" y="2212848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Participation, partnerships, submissions, results, and wider reach were difficult to consolidate into one institutional picture.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05840" y="3429000"/>
            <a:ext cx="10149840" cy="1371600"/>
          </a:xfrm>
          <a:prstGeom prst="roundRect">
            <a:avLst>
              <a:gd name="adj" fmla="val 4667"/>
            </a:avLst>
          </a:prstGeom>
          <a:solidFill>
            <a:srgbClr val="F4E9ED"/>
          </a:solidFill>
          <a:ln w="12700">
            <a:solidFill>
              <a:srgbClr val="E3C8D2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1353312" y="3675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630"/>
                </a:solidFill>
              </a:rPr>
              <a:t>The core question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53312" y="4078224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How can PMU connect schools, universities, industries, and wider partners through one ecosystem that creates opportunities, supports collaboration, and demonstrates impact?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PMU created NextGen EngageU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connect the full education-to-industry ecosystem through shared opportunities.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609344" y="1554480"/>
            <a:ext cx="822960" cy="822960"/>
          </a:xfrm>
          <a:prstGeom prst="ellipse">
            <a:avLst/>
          </a:prstGeom>
          <a:solidFill>
            <a:srgbClr val="7A1630"/>
          </a:solidFill>
          <a:ln w="12700">
            <a:solidFill>
              <a:srgbClr val="7A163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1810512" y="175564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5786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One destination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072384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A central hub where schools, universities, industries, and partners can discover and join opportunities.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43984" y="1554480"/>
            <a:ext cx="822960" cy="822960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4645152" y="175564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66160" y="25786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Connected audiences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57600" y="3072384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Clear pathways for school students, university students, professionals, and external organizations.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278624" y="1554480"/>
            <a:ext cx="822960" cy="82296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7479792" y="175564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25786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Partnership activation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2240" y="3072384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A structured way to launch joint competitions, challenges, programs, and knowledge exchange.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113264" y="1554480"/>
            <a:ext cx="822960" cy="822960"/>
          </a:xfrm>
          <a:prstGeom prst="ellipse">
            <a:avLst/>
          </a:prstGeom>
          <a:solidFill>
            <a:srgbClr val="B9923B"/>
          </a:solidFill>
          <a:ln w="12700">
            <a:solidFill>
              <a:srgbClr val="B9923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10314432" y="175564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235440" y="25786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Institutional reach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326880" y="3072384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Structured evidence of participation, partnerships, outcomes, and national or international visibility.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828800" y="4572000"/>
            <a:ext cx="8549640" cy="822960"/>
          </a:xfrm>
          <a:prstGeom prst="roundRect">
            <a:avLst>
              <a:gd name="adj" fmla="val 5556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2057400" y="4809744"/>
            <a:ext cx="8092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From isolated initiatives to a connected education, engagement, and industry ecosystem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NextGen EngageU connects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platform linking stakeholders, participation, and outcomes.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389888" cy="150876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D4D8DD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649224" y="196596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1630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26771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2937"/>
                </a:solidFill>
              </a:rPr>
              <a:t>Connect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21792" y="269748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6B7280"/>
                </a:solidFill>
              </a:rPr>
              <a:t>Bring schools, universities, industries, and partners together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1920240" y="2368296"/>
            <a:ext cx="246888" cy="411480"/>
          </a:xfrm>
          <a:prstGeom prst="chevron">
            <a:avLst/>
          </a:prstGeom>
          <a:solidFill>
            <a:srgbClr val="D8DCE1"/>
          </a:solidFill>
          <a:ln w="12700">
            <a:solidFill>
              <a:srgbClr val="D8DCE1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Shape 7"/>
          <p:cNvSpPr/>
          <p:nvPr/>
        </p:nvSpPr>
        <p:spPr>
          <a:xfrm>
            <a:off x="2167128" y="1828800"/>
            <a:ext cx="1389888" cy="1508760"/>
          </a:xfrm>
          <a:prstGeom prst="roundRect">
            <a:avLst>
              <a:gd name="adj" fmla="val 3289"/>
            </a:avLst>
          </a:prstGeom>
          <a:solidFill>
            <a:srgbClr val="F4F5F7"/>
          </a:solidFill>
          <a:ln w="12700">
            <a:solidFill>
              <a:srgbClr val="D4D8DD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Text 8"/>
          <p:cNvSpPr/>
          <p:nvPr/>
        </p:nvSpPr>
        <p:spPr>
          <a:xfrm>
            <a:off x="2313432" y="196596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1630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04288" y="226771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2937"/>
                </a:solidFill>
              </a:rPr>
              <a:t>Discover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286000" y="269748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6B7280"/>
                </a:solidFill>
              </a:rPr>
              <a:t>Find relevant competitions and opportunities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3584448" y="2368296"/>
            <a:ext cx="246888" cy="411480"/>
          </a:xfrm>
          <a:prstGeom prst="chevron">
            <a:avLst/>
          </a:prstGeom>
          <a:solidFill>
            <a:srgbClr val="D8DCE1"/>
          </a:solidFill>
          <a:ln w="12700">
            <a:solidFill>
              <a:srgbClr val="D8DCE1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4" name="Shape 12"/>
          <p:cNvSpPr/>
          <p:nvPr/>
        </p:nvSpPr>
        <p:spPr>
          <a:xfrm>
            <a:off x="3831336" y="1828800"/>
            <a:ext cx="1389888" cy="150876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D4D8DD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3977640" y="196596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1630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68496" y="226771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2937"/>
                </a:solidFill>
              </a:rPr>
              <a:t>Co-create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950208" y="269748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6B7280"/>
                </a:solidFill>
              </a:rPr>
              <a:t>Develop joint challenges, programs, and activities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5248656" y="2368296"/>
            <a:ext cx="246888" cy="411480"/>
          </a:xfrm>
          <a:prstGeom prst="chevron">
            <a:avLst/>
          </a:prstGeom>
          <a:solidFill>
            <a:srgbClr val="D8DCE1"/>
          </a:solidFill>
          <a:ln w="12700">
            <a:solidFill>
              <a:srgbClr val="D8DCE1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9" name="Shape 17"/>
          <p:cNvSpPr/>
          <p:nvPr/>
        </p:nvSpPr>
        <p:spPr>
          <a:xfrm>
            <a:off x="5495544" y="1828800"/>
            <a:ext cx="1389888" cy="1508760"/>
          </a:xfrm>
          <a:prstGeom prst="roundRect">
            <a:avLst>
              <a:gd name="adj" fmla="val 3289"/>
            </a:avLst>
          </a:prstGeom>
          <a:solidFill>
            <a:srgbClr val="F4F5F7"/>
          </a:solidFill>
          <a:ln w="12700">
            <a:solidFill>
              <a:srgbClr val="D4D8DD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0" name="Text 18"/>
          <p:cNvSpPr/>
          <p:nvPr/>
        </p:nvSpPr>
        <p:spPr>
          <a:xfrm>
            <a:off x="5641848" y="196596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1630"/>
                </a:solidFill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32704" y="226771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2937"/>
                </a:solidFill>
              </a:rPr>
              <a:t>Participate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614416" y="269748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6B7280"/>
                </a:solidFill>
              </a:rPr>
              <a:t>Register, contribute, submit, and engage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6912864" y="2368296"/>
            <a:ext cx="246888" cy="411480"/>
          </a:xfrm>
          <a:prstGeom prst="chevron">
            <a:avLst/>
          </a:prstGeom>
          <a:solidFill>
            <a:srgbClr val="D8DCE1"/>
          </a:solidFill>
          <a:ln w="12700">
            <a:solidFill>
              <a:srgbClr val="D8DCE1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4" name="Shape 22"/>
          <p:cNvSpPr/>
          <p:nvPr/>
        </p:nvSpPr>
        <p:spPr>
          <a:xfrm>
            <a:off x="7159752" y="1828800"/>
            <a:ext cx="1389888" cy="150876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D4D8DD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5" name="Text 23"/>
          <p:cNvSpPr/>
          <p:nvPr/>
        </p:nvSpPr>
        <p:spPr>
          <a:xfrm>
            <a:off x="7306056" y="196596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1630"/>
                </a:solidFill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96912" y="226771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2937"/>
                </a:solidFill>
              </a:rPr>
              <a:t>Evaluate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278624" y="269748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6B7280"/>
                </a:solidFill>
              </a:rPr>
              <a:t>Review outcomes through clear criteria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8577072" y="2368296"/>
            <a:ext cx="246888" cy="411480"/>
          </a:xfrm>
          <a:prstGeom prst="chevron">
            <a:avLst/>
          </a:prstGeom>
          <a:solidFill>
            <a:srgbClr val="D8DCE1"/>
          </a:solidFill>
          <a:ln w="12700">
            <a:solidFill>
              <a:srgbClr val="D8DCE1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9" name="Shape 27"/>
          <p:cNvSpPr/>
          <p:nvPr/>
        </p:nvSpPr>
        <p:spPr>
          <a:xfrm>
            <a:off x="8823960" y="1828800"/>
            <a:ext cx="1389888" cy="1508760"/>
          </a:xfrm>
          <a:prstGeom prst="roundRect">
            <a:avLst>
              <a:gd name="adj" fmla="val 3289"/>
            </a:avLst>
          </a:prstGeom>
          <a:solidFill>
            <a:srgbClr val="F4F5F7"/>
          </a:solidFill>
          <a:ln w="12700">
            <a:solidFill>
              <a:srgbClr val="D4D8DD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0" name="Text 28"/>
          <p:cNvSpPr/>
          <p:nvPr/>
        </p:nvSpPr>
        <p:spPr>
          <a:xfrm>
            <a:off x="8970264" y="196596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1630"/>
                </a:solidFill>
              </a:rPr>
              <a:t>06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961120" y="226771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2937"/>
                </a:solidFill>
              </a:rPr>
              <a:t>Recognize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942832" y="269748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6B7280"/>
                </a:solidFill>
              </a:rPr>
              <a:t>Celebrate participants, partners, and achievements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10241280" y="2368296"/>
            <a:ext cx="246888" cy="411480"/>
          </a:xfrm>
          <a:prstGeom prst="chevron">
            <a:avLst/>
          </a:prstGeom>
          <a:solidFill>
            <a:srgbClr val="D8DCE1"/>
          </a:solidFill>
          <a:ln w="12700">
            <a:solidFill>
              <a:srgbClr val="D8DCE1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4" name="Shape 32"/>
          <p:cNvSpPr/>
          <p:nvPr/>
        </p:nvSpPr>
        <p:spPr>
          <a:xfrm>
            <a:off x="10488168" y="1828800"/>
            <a:ext cx="1389888" cy="150876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D4D8DD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5" name="Text 33"/>
          <p:cNvSpPr/>
          <p:nvPr/>
        </p:nvSpPr>
        <p:spPr>
          <a:xfrm>
            <a:off x="10634472" y="196596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1630"/>
                </a:solidFill>
              </a:rPr>
              <a:t>07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625328" y="226771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2937"/>
                </a:solidFill>
              </a:rPr>
              <a:t>Expand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10607040" y="269748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6B7280"/>
                </a:solidFill>
              </a:rPr>
              <a:t>Use evidence to deepen national and international reach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914400" y="4160520"/>
            <a:ext cx="10332720" cy="1097280"/>
          </a:xfrm>
          <a:prstGeom prst="roundRect">
            <a:avLst>
              <a:gd name="adj" fmla="val 4167"/>
            </a:avLst>
          </a:prstGeom>
          <a:solidFill>
            <a:srgbClr val="E7EFF5"/>
          </a:solidFill>
          <a:ln w="12700">
            <a:solidFill>
              <a:srgbClr val="C9D9E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9" name="Text 37"/>
          <p:cNvSpPr/>
          <p:nvPr/>
        </p:nvSpPr>
        <p:spPr>
          <a:xfrm>
            <a:off x="1280160" y="441655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F6690"/>
                </a:solidFill>
              </a:rPr>
              <a:t>The value is not only the website, it is the ecosystem and relationships built through it.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1417320" y="480060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</a:rPr>
              <a:t>Participants gain access; partners gain a collaboration channel; PMU gains reach, evidence, and visibility.</a:t>
            </a:r>
            <a:endParaRPr lang="en-US" sz="13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Connecting the full ecosystem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stakeholder contributes a different form of value.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481328"/>
            <a:ext cx="10652760" cy="841248"/>
          </a:xfrm>
          <a:prstGeom prst="roundRect">
            <a:avLst>
              <a:gd name="adj" fmla="val 5435"/>
            </a:avLst>
          </a:prstGeom>
          <a:solidFill>
            <a:srgbClr val="F4E9ED"/>
          </a:solidFill>
          <a:ln w="12700">
            <a:solidFill>
              <a:srgbClr val="F4E9ED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960120" y="1618488"/>
            <a:ext cx="2011680" cy="566928"/>
          </a:xfrm>
          <a:prstGeom prst="roundRect">
            <a:avLst>
              <a:gd name="adj" fmla="val 6452"/>
            </a:avLst>
          </a:prstGeom>
          <a:solidFill>
            <a:srgbClr val="7A1630"/>
          </a:solidFill>
          <a:ln w="12700">
            <a:solidFill>
              <a:srgbClr val="7A163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1097280" y="177393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Schools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310128" y="170078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Introduce students to university-level challenges, future skills, and early engagement with PMU.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560320"/>
            <a:ext cx="10652760" cy="841248"/>
          </a:xfrm>
          <a:prstGeom prst="roundRect">
            <a:avLst>
              <a:gd name="adj" fmla="val 5435"/>
            </a:avLst>
          </a:prstGeom>
          <a:solidFill>
            <a:srgbClr val="E7EFF5"/>
          </a:solidFill>
          <a:ln w="12700">
            <a:solidFill>
              <a:srgbClr val="E7EFF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Shape 7"/>
          <p:cNvSpPr/>
          <p:nvPr/>
        </p:nvSpPr>
        <p:spPr>
          <a:xfrm>
            <a:off x="960120" y="2697480"/>
            <a:ext cx="2011680" cy="566928"/>
          </a:xfrm>
          <a:prstGeom prst="roundRect">
            <a:avLst>
              <a:gd name="adj" fmla="val 6452"/>
            </a:avLst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Text 8"/>
          <p:cNvSpPr/>
          <p:nvPr/>
        </p:nvSpPr>
        <p:spPr>
          <a:xfrm>
            <a:off x="1097280" y="28529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Universities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10128" y="277977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Co-create competitions, exchange knowledge, widen participation, and support inter-university collaboration.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3639312"/>
            <a:ext cx="10652760" cy="841248"/>
          </a:xfrm>
          <a:prstGeom prst="roundRect">
            <a:avLst>
              <a:gd name="adj" fmla="val 5435"/>
            </a:avLst>
          </a:prstGeom>
          <a:solidFill>
            <a:srgbClr val="E7F2ED"/>
          </a:solidFill>
          <a:ln w="12700">
            <a:solidFill>
              <a:srgbClr val="E7F2ED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3" name="Shape 11"/>
          <p:cNvSpPr/>
          <p:nvPr/>
        </p:nvSpPr>
        <p:spPr>
          <a:xfrm>
            <a:off x="960120" y="3776472"/>
            <a:ext cx="2011680" cy="566928"/>
          </a:xfrm>
          <a:prstGeom prst="roundRect">
            <a:avLst>
              <a:gd name="adj" fmla="val 6452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Industries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10128" y="38587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Present real-world challenges, contribute expertise, identify talent, and strengthen university-industry links.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4718304"/>
            <a:ext cx="10652760" cy="841248"/>
          </a:xfrm>
          <a:prstGeom prst="roundRect">
            <a:avLst>
              <a:gd name="adj" fmla="val 5435"/>
            </a:avLst>
          </a:prstGeom>
          <a:solidFill>
            <a:srgbClr val="F7F1E3"/>
          </a:solidFill>
          <a:ln w="12700">
            <a:solidFill>
              <a:srgbClr val="F7F1E3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7" name="Shape 15"/>
          <p:cNvSpPr/>
          <p:nvPr/>
        </p:nvSpPr>
        <p:spPr>
          <a:xfrm>
            <a:off x="960120" y="4855464"/>
            <a:ext cx="2011680" cy="566928"/>
          </a:xfrm>
          <a:prstGeom prst="roundRect">
            <a:avLst>
              <a:gd name="adj" fmla="val 6452"/>
            </a:avLst>
          </a:prstGeom>
          <a:solidFill>
            <a:srgbClr val="B9923B"/>
          </a:solidFill>
          <a:ln w="12700">
            <a:solidFill>
              <a:srgbClr val="B9923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8" name="Text 16"/>
          <p:cNvSpPr/>
          <p:nvPr/>
        </p:nvSpPr>
        <p:spPr>
          <a:xfrm>
            <a:off x="1097280" y="50109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PMU &amp; Partners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10128" y="4937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Coordinate opportunities, build relationships, recognize contribution, and demonstrate wider impact.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is a Student Affairs best practice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NextGen EngageU translates core Campus Life principles into an operational model.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444752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731520" y="1444752"/>
            <a:ext cx="73152" cy="1051560"/>
          </a:xfrm>
          <a:prstGeom prst="rect">
            <a:avLst/>
          </a:prstGeom>
          <a:solidFill>
            <a:srgbClr val="7A1630"/>
          </a:solidFill>
          <a:ln w="12700">
            <a:solidFill>
              <a:srgbClr val="7A163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941832" y="1627632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Student-centered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1832" y="2103120"/>
            <a:ext cx="4873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Built around a simple, visible participation journey.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444752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Shape 7"/>
          <p:cNvSpPr/>
          <p:nvPr/>
        </p:nvSpPr>
        <p:spPr>
          <a:xfrm>
            <a:off x="6400800" y="1444752"/>
            <a:ext cx="73152" cy="1051560"/>
          </a:xfrm>
          <a:prstGeom prst="rect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Text 8"/>
          <p:cNvSpPr/>
          <p:nvPr/>
        </p:nvSpPr>
        <p:spPr>
          <a:xfrm>
            <a:off x="6611112" y="1627632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Inclusive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11112" y="2045968"/>
            <a:ext cx="4873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Brings together school students, university students, professionals, and partner organizations.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862072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3" name="Shape 11"/>
          <p:cNvSpPr/>
          <p:nvPr/>
        </p:nvSpPr>
        <p:spPr>
          <a:xfrm>
            <a:off x="731520" y="2862072"/>
            <a:ext cx="73152" cy="105156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4" name="Text 12"/>
          <p:cNvSpPr/>
          <p:nvPr/>
        </p:nvSpPr>
        <p:spPr>
          <a:xfrm>
            <a:off x="941832" y="3044952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Developmental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1832" y="3477576"/>
            <a:ext cx="4873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Encourages creativity, problem-solving, teamwork, leadership, and applied learning.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2862072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7" name="Shape 15"/>
          <p:cNvSpPr/>
          <p:nvPr/>
        </p:nvSpPr>
        <p:spPr>
          <a:xfrm>
            <a:off x="6400800" y="2862072"/>
            <a:ext cx="73152" cy="1051560"/>
          </a:xfrm>
          <a:prstGeom prst="rect">
            <a:avLst/>
          </a:prstGeom>
          <a:solidFill>
            <a:srgbClr val="B9923B"/>
          </a:solidFill>
          <a:ln w="12700">
            <a:solidFill>
              <a:srgbClr val="B9923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8" name="Text 16"/>
          <p:cNvSpPr/>
          <p:nvPr/>
        </p:nvSpPr>
        <p:spPr>
          <a:xfrm>
            <a:off x="6611112" y="3044952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Transparent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11112" y="3520440"/>
            <a:ext cx="4873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Makes requirements, stages, criteria, deadlines, and outcomes clearer.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279392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1" name="Shape 19"/>
          <p:cNvSpPr/>
          <p:nvPr/>
        </p:nvSpPr>
        <p:spPr>
          <a:xfrm>
            <a:off x="731520" y="4279392"/>
            <a:ext cx="73152" cy="1051560"/>
          </a:xfrm>
          <a:prstGeom prst="rect">
            <a:avLst/>
          </a:prstGeom>
          <a:solidFill>
            <a:srgbClr val="B54747"/>
          </a:solidFill>
          <a:ln w="12700">
            <a:solidFill>
              <a:srgbClr val="B5474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2" name="Text 20"/>
          <p:cNvSpPr/>
          <p:nvPr/>
        </p:nvSpPr>
        <p:spPr>
          <a:xfrm>
            <a:off x="941832" y="4462272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Data-informed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1832" y="4937760"/>
            <a:ext cx="4873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Creates evidence for improvement, reporting, and strategic planning.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4279392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5" name="Shape 23"/>
          <p:cNvSpPr/>
          <p:nvPr/>
        </p:nvSpPr>
        <p:spPr>
          <a:xfrm>
            <a:off x="6400800" y="4279392"/>
            <a:ext cx="73152" cy="10515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6" name="Text 24"/>
          <p:cNvSpPr/>
          <p:nvPr/>
        </p:nvSpPr>
        <p:spPr>
          <a:xfrm>
            <a:off x="6611112" y="4462272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Scalable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11112" y="4880608"/>
            <a:ext cx="4873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Provides a repeatable structure for local, national, and international expansion.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the model distinctive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combines engagement, partnership development, and institutional visibility.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600200"/>
            <a:ext cx="2926080" cy="2926080"/>
          </a:xfrm>
          <a:prstGeom prst="ellipse">
            <a:avLst/>
          </a:prstGeom>
          <a:solidFill>
            <a:srgbClr val="7A1630">
              <a:alpha val="88000"/>
            </a:srgbClr>
          </a:solidFill>
          <a:ln w="25400">
            <a:solidFill>
              <a:srgbClr val="7A163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132588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Engagement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44168" y="29718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Opportunities that attract participation and build belonging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33088" y="1600200"/>
            <a:ext cx="2926080" cy="2926080"/>
          </a:xfrm>
          <a:prstGeom prst="ellipse">
            <a:avLst/>
          </a:prstGeom>
          <a:solidFill>
            <a:srgbClr val="2F6690">
              <a:alpha val="88000"/>
            </a:srgbClr>
          </a:solidFill>
          <a:ln w="25400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Text 6"/>
          <p:cNvSpPr/>
          <p:nvPr/>
        </p:nvSpPr>
        <p:spPr>
          <a:xfrm>
            <a:off x="4544568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Partnerships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562856" y="29718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A shared space for schools, universities, industries, and external organizations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51776" y="1600200"/>
            <a:ext cx="2926080" cy="2926080"/>
          </a:xfrm>
          <a:prstGeom prst="ellipse">
            <a:avLst/>
          </a:prstGeom>
          <a:solidFill>
            <a:srgbClr val="2E7D5B">
              <a:alpha val="88000"/>
            </a:srgbClr>
          </a:solidFill>
          <a:ln w="254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7763256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Visibility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781544" y="29718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Evidence of reach, collaboration, outcomes, and institutional impact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46704" y="4800600"/>
            <a:ext cx="5486400" cy="694944"/>
          </a:xfrm>
          <a:prstGeom prst="roundRect">
            <a:avLst>
              <a:gd name="adj" fmla="val 6579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4" name="Text 12"/>
          <p:cNvSpPr/>
          <p:nvPr/>
        </p:nvSpPr>
        <p:spPr>
          <a:xfrm>
            <a:off x="3566160" y="5010912"/>
            <a:ext cx="5074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result: Campus Life as a connector across education, society, and industry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value can be demonstrated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enables Campus Life to report both participation and quality.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49808" y="1353312"/>
            <a:ext cx="1828800" cy="694944"/>
          </a:xfrm>
          <a:prstGeom prst="roundRect">
            <a:avLst>
              <a:gd name="adj" fmla="val 5263"/>
            </a:avLst>
          </a:prstGeom>
          <a:solidFill>
            <a:srgbClr val="7A1630"/>
          </a:solidFill>
          <a:ln w="12700">
            <a:solidFill>
              <a:srgbClr val="7A163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914400" y="1563624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Reach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852928" y="14538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F2937"/>
                </a:solidFill>
              </a:rPr>
              <a:t>Number and diversity of participants</a:t>
            </a:r>
            <a:endParaRPr lang="en-US" sz="1230" dirty="0"/>
          </a:p>
        </p:txBody>
      </p:sp>
      <p:sp>
        <p:nvSpPr>
          <p:cNvPr id="7" name="Text 5"/>
          <p:cNvSpPr/>
          <p:nvPr/>
        </p:nvSpPr>
        <p:spPr>
          <a:xfrm>
            <a:off x="2852928" y="174650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schools, universities, professionals, industries, countries, and disciplines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88920" y="2084832"/>
            <a:ext cx="8229600" cy="0"/>
          </a:xfrm>
          <a:prstGeom prst="line">
            <a:avLst/>
          </a:prstGeom>
          <a:noFill/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Shape 7"/>
          <p:cNvSpPr/>
          <p:nvPr/>
        </p:nvSpPr>
        <p:spPr>
          <a:xfrm>
            <a:off x="749808" y="2286000"/>
            <a:ext cx="1828800" cy="694944"/>
          </a:xfrm>
          <a:prstGeom prst="roundRect">
            <a:avLst>
              <a:gd name="adj" fmla="val 5263"/>
            </a:avLst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Text 8"/>
          <p:cNvSpPr/>
          <p:nvPr/>
        </p:nvSpPr>
        <p:spPr>
          <a:xfrm>
            <a:off x="914400" y="2496312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Participation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52928" y="23865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F2937"/>
                </a:solidFill>
              </a:rPr>
              <a:t>Registrations, submissions, completion, repeat participation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2852928" y="26791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engagement across different stakeholder groups and programs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88920" y="3017520"/>
            <a:ext cx="8229600" cy="0"/>
          </a:xfrm>
          <a:prstGeom prst="line">
            <a:avLst/>
          </a:prstGeom>
          <a:noFill/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4" name="Shape 12"/>
          <p:cNvSpPr/>
          <p:nvPr/>
        </p:nvSpPr>
        <p:spPr>
          <a:xfrm>
            <a:off x="749808" y="3218688"/>
            <a:ext cx="1828800" cy="694944"/>
          </a:xfrm>
          <a:prstGeom prst="roundRect">
            <a:avLst>
              <a:gd name="adj" fmla="val 5263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914400" y="3429000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Partnerships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52928" y="33192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F2937"/>
                </a:solidFill>
              </a:rPr>
              <a:t>Number and type of contributing organizations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2852928" y="361188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local, national, and international partners and collaborators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88920" y="3950208"/>
            <a:ext cx="8229600" cy="0"/>
          </a:xfrm>
          <a:prstGeom prst="line">
            <a:avLst/>
          </a:prstGeom>
          <a:noFill/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9" name="Shape 17"/>
          <p:cNvSpPr/>
          <p:nvPr/>
        </p:nvSpPr>
        <p:spPr>
          <a:xfrm>
            <a:off x="749808" y="4151376"/>
            <a:ext cx="1828800" cy="694944"/>
          </a:xfrm>
          <a:prstGeom prst="roundRect">
            <a:avLst>
              <a:gd name="adj" fmla="val 5263"/>
            </a:avLst>
          </a:prstGeom>
          <a:solidFill>
            <a:srgbClr val="B9923B"/>
          </a:solidFill>
          <a:ln w="12700">
            <a:solidFill>
              <a:srgbClr val="B9923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0" name="Text 18"/>
          <p:cNvSpPr/>
          <p:nvPr/>
        </p:nvSpPr>
        <p:spPr>
          <a:xfrm>
            <a:off x="914400" y="4361688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Development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52928" y="4251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F2937"/>
                </a:solidFill>
              </a:rPr>
              <a:t>Skills practiced and competencies demonstrated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2852928" y="454456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creativity, teamwork, leadership, communication, and problem-solving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88920" y="4882896"/>
            <a:ext cx="8229600" cy="0"/>
          </a:xfrm>
          <a:prstGeom prst="line">
            <a:avLst/>
          </a:prstGeom>
          <a:noFill/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4" name="Shape 22"/>
          <p:cNvSpPr/>
          <p:nvPr/>
        </p:nvSpPr>
        <p:spPr>
          <a:xfrm>
            <a:off x="749808" y="5084064"/>
            <a:ext cx="1828800" cy="694944"/>
          </a:xfrm>
          <a:prstGeom prst="roundRect">
            <a:avLst>
              <a:gd name="adj" fmla="val 5263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5" name="Text 23"/>
          <p:cNvSpPr/>
          <p:nvPr/>
        </p:nvSpPr>
        <p:spPr>
          <a:xfrm>
            <a:off x="914400" y="5294376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Institutional impact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852928" y="5184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F2937"/>
                </a:solidFill>
              </a:rPr>
              <a:t>Visibility, recognition, collaboration, and program improvement</a:t>
            </a:r>
            <a:endParaRPr lang="en-US" sz="1230" dirty="0"/>
          </a:p>
        </p:txBody>
      </p:sp>
      <p:sp>
        <p:nvSpPr>
          <p:cNvPr id="27" name="Text 25"/>
          <p:cNvSpPr/>
          <p:nvPr/>
        </p:nvSpPr>
        <p:spPr>
          <a:xfrm>
            <a:off x="2852928" y="547725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evidence for strategy, reporting, rankings, and external relations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88920" y="5815584"/>
            <a:ext cx="8229600" cy="0"/>
          </a:xfrm>
          <a:prstGeom prst="line">
            <a:avLst/>
          </a:prstGeom>
          <a:noFill/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platform to engagement ecosystem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NextGen EngageU creates a foundation for continuous development.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965960" cy="3566160"/>
          </a:xfrm>
          <a:prstGeom prst="roundRect">
            <a:avLst>
              <a:gd name="adj" fmla="val 2326"/>
            </a:avLst>
          </a:prstGeom>
          <a:solidFill>
            <a:srgbClr val="F4E9ED"/>
          </a:solidFill>
          <a:ln w="12700">
            <a:solidFill>
              <a:srgbClr val="D7AEB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1207008" y="1874520"/>
            <a:ext cx="731520" cy="731520"/>
          </a:xfrm>
          <a:prstGeom prst="ellipse">
            <a:avLst/>
          </a:prstGeom>
          <a:solidFill>
            <a:srgbClr val="7A1630"/>
          </a:solidFill>
          <a:ln w="12700">
            <a:solidFill>
              <a:srgbClr val="7A163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1417320" y="20756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8163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</a:rPr>
              <a:t>Connect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401568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Bring schools, universities, industries, and partners into one ecosystem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87752" y="3072384"/>
            <a:ext cx="256032" cy="411480"/>
          </a:xfrm>
          <a:prstGeom prst="chevron">
            <a:avLst/>
          </a:prstGeom>
          <a:solidFill>
            <a:srgbClr val="D8DCE1"/>
          </a:solidFill>
          <a:ln w="12700">
            <a:solidFill>
              <a:srgbClr val="D8DCE1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Shape 8"/>
          <p:cNvSpPr/>
          <p:nvPr/>
        </p:nvSpPr>
        <p:spPr>
          <a:xfrm>
            <a:off x="2898648" y="1600200"/>
            <a:ext cx="1965960" cy="35661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1" name="Shape 9"/>
          <p:cNvSpPr/>
          <p:nvPr/>
        </p:nvSpPr>
        <p:spPr>
          <a:xfrm>
            <a:off x="3511296" y="1874520"/>
            <a:ext cx="731520" cy="731520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3721608" y="20756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81528" y="28163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</a:rPr>
              <a:t>Co-create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27248" y="3401568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Develop joint competitions, programs, challenges, and learning opportunities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92040" y="3072384"/>
            <a:ext cx="256032" cy="411480"/>
          </a:xfrm>
          <a:prstGeom prst="chevron">
            <a:avLst/>
          </a:prstGeom>
          <a:solidFill>
            <a:srgbClr val="D8DCE1"/>
          </a:solidFill>
          <a:ln w="12700">
            <a:solidFill>
              <a:srgbClr val="D8DCE1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6" name="Shape 14"/>
          <p:cNvSpPr/>
          <p:nvPr/>
        </p:nvSpPr>
        <p:spPr>
          <a:xfrm>
            <a:off x="5202936" y="1600200"/>
            <a:ext cx="1965960" cy="35661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7" name="Shape 15"/>
          <p:cNvSpPr/>
          <p:nvPr/>
        </p:nvSpPr>
        <p:spPr>
          <a:xfrm>
            <a:off x="5815584" y="1874520"/>
            <a:ext cx="731520" cy="73152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8" name="Text 16"/>
          <p:cNvSpPr/>
          <p:nvPr/>
        </p:nvSpPr>
        <p:spPr>
          <a:xfrm>
            <a:off x="6025896" y="20756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85816" y="28163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</a:rPr>
              <a:t>Participate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31536" y="3401568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Enable local, national, and international participation through one pathway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96328" y="3072384"/>
            <a:ext cx="256032" cy="411480"/>
          </a:xfrm>
          <a:prstGeom prst="chevron">
            <a:avLst/>
          </a:prstGeom>
          <a:solidFill>
            <a:srgbClr val="D8DCE1"/>
          </a:solidFill>
          <a:ln w="12700">
            <a:solidFill>
              <a:srgbClr val="D8DCE1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2" name="Shape 20"/>
          <p:cNvSpPr/>
          <p:nvPr/>
        </p:nvSpPr>
        <p:spPr>
          <a:xfrm>
            <a:off x="7507224" y="1600200"/>
            <a:ext cx="1965960" cy="35661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3" name="Shape 21"/>
          <p:cNvSpPr/>
          <p:nvPr/>
        </p:nvSpPr>
        <p:spPr>
          <a:xfrm>
            <a:off x="8119872" y="1874520"/>
            <a:ext cx="731520" cy="731520"/>
          </a:xfrm>
          <a:prstGeom prst="ellipse">
            <a:avLst/>
          </a:prstGeom>
          <a:solidFill>
            <a:srgbClr val="B9923B"/>
          </a:solidFill>
          <a:ln w="12700">
            <a:solidFill>
              <a:srgbClr val="B9923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4" name="Text 22"/>
          <p:cNvSpPr/>
          <p:nvPr/>
        </p:nvSpPr>
        <p:spPr>
          <a:xfrm>
            <a:off x="8330184" y="20756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90104" y="28163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</a:rPr>
              <a:t>Demonstrate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35824" y="3401568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Use data to show reach, outcomes, partner contribution, and student development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500616" y="3072384"/>
            <a:ext cx="256032" cy="411480"/>
          </a:xfrm>
          <a:prstGeom prst="chevron">
            <a:avLst/>
          </a:prstGeom>
          <a:solidFill>
            <a:srgbClr val="D8DCE1"/>
          </a:solidFill>
          <a:ln w="12700">
            <a:solidFill>
              <a:srgbClr val="D8DCE1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8" name="Shape 26"/>
          <p:cNvSpPr/>
          <p:nvPr/>
        </p:nvSpPr>
        <p:spPr>
          <a:xfrm>
            <a:off x="9811512" y="1600200"/>
            <a:ext cx="1965960" cy="35661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9" name="Shape 27"/>
          <p:cNvSpPr/>
          <p:nvPr/>
        </p:nvSpPr>
        <p:spPr>
          <a:xfrm>
            <a:off x="10424160" y="1874520"/>
            <a:ext cx="731520" cy="73152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0" name="Text 28"/>
          <p:cNvSpPr/>
          <p:nvPr/>
        </p:nvSpPr>
        <p:spPr>
          <a:xfrm>
            <a:off x="10634472" y="20756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994392" y="28163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</a:rPr>
              <a:t>Expand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040112" y="3401568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Grow themes, sectors, geographic reach, and long-term partnerships</a:t>
            </a:r>
            <a:endParaRPr lang="en-US" sz="11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lessons for Student Affairs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digital initiatives begin with the student experience, not the technology.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6629400" cy="4206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203200" indent="-203200">
              <a:buSzPct val="100000"/>
              <a:buChar char="•"/>
            </a:pPr>
            <a:r>
              <a:rPr lang="en-US" dirty="0">
                <a:solidFill>
                  <a:srgbClr val="1F2937"/>
                </a:solidFill>
              </a:rPr>
              <a:t>Start with a real engagement problem and redesign the journey around students.</a:t>
            </a:r>
          </a:p>
          <a:p>
            <a:pPr marL="203200" indent="-203200">
              <a:buSzPct val="100000"/>
              <a:buChar char="•"/>
            </a:pPr>
            <a:endParaRPr lang="en-US" dirty="0"/>
          </a:p>
          <a:p>
            <a:pPr marL="203200" indent="-203200">
              <a:buSzPct val="100000"/>
              <a:buChar char="•"/>
            </a:pPr>
            <a:r>
              <a:rPr lang="en-US" dirty="0">
                <a:solidFill>
                  <a:srgbClr val="1F2937"/>
                </a:solidFill>
              </a:rPr>
              <a:t>Create one clear institutional process before adding more features.</a:t>
            </a:r>
          </a:p>
          <a:p>
            <a:pPr marL="203200" indent="-203200">
              <a:buSzPct val="100000"/>
              <a:buChar char="•"/>
            </a:pPr>
            <a:endParaRPr lang="en-US" dirty="0"/>
          </a:p>
          <a:p>
            <a:pPr marL="203200" indent="-203200">
              <a:buSzPct val="100000"/>
              <a:buChar char="•"/>
            </a:pPr>
            <a:r>
              <a:rPr lang="en-US" dirty="0">
                <a:solidFill>
                  <a:srgbClr val="1F2937"/>
                </a:solidFill>
              </a:rPr>
              <a:t>Balance ease of use with governance, transparency, and reliable data.</a:t>
            </a:r>
          </a:p>
          <a:p>
            <a:pPr marL="203200" indent="-203200">
              <a:buSzPct val="100000"/>
              <a:buChar char="•"/>
            </a:pPr>
            <a:endParaRPr lang="en-US" dirty="0"/>
          </a:p>
          <a:p>
            <a:pPr marL="203200" indent="-203200">
              <a:buSzPct val="100000"/>
              <a:buChar char="•"/>
            </a:pPr>
            <a:r>
              <a:rPr lang="en-US" dirty="0">
                <a:solidFill>
                  <a:srgbClr val="1F2937"/>
                </a:solidFill>
              </a:rPr>
              <a:t>Treat participation data as a tool for improvement, not only reporting.</a:t>
            </a:r>
          </a:p>
          <a:p>
            <a:pPr marL="203200" indent="-203200">
              <a:buSzPct val="100000"/>
              <a:buChar char="•"/>
            </a:pPr>
            <a:endParaRPr lang="en-US" dirty="0"/>
          </a:p>
          <a:p>
            <a:pPr marL="203200" indent="-203200">
              <a:buSzPct val="100000"/>
              <a:buChar char="•"/>
            </a:pPr>
            <a:r>
              <a:rPr lang="en-US" dirty="0">
                <a:solidFill>
                  <a:srgbClr val="1F2937"/>
                </a:solidFill>
              </a:rPr>
              <a:t>Build the platform as a shared service across Campus Life, academic units, schools, industries, and partners.</a:t>
            </a:r>
          </a:p>
          <a:p>
            <a:pPr marL="203200" indent="-203200">
              <a:buSzPct val="100000"/>
              <a:buChar char="•"/>
            </a:pPr>
            <a:endParaRPr lang="en-US" dirty="0"/>
          </a:p>
          <a:p>
            <a:pPr marL="203200" indent="-203200">
              <a:buSzPct val="100000"/>
              <a:buChar char="•"/>
            </a:pPr>
            <a:r>
              <a:rPr lang="en-US" dirty="0">
                <a:solidFill>
                  <a:srgbClr val="1F2937"/>
                </a:solidFill>
              </a:rPr>
              <a:t>Keep evolving through feedback, analytics, and changing student needs.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001000" y="1627632"/>
            <a:ext cx="3246120" cy="3611880"/>
          </a:xfrm>
          <a:prstGeom prst="roundRect">
            <a:avLst>
              <a:gd name="adj" fmla="val 1690"/>
            </a:avLst>
          </a:prstGeom>
          <a:solidFill>
            <a:srgbClr val="7A1630"/>
          </a:solidFill>
          <a:ln w="12700">
            <a:solidFill>
              <a:srgbClr val="7A163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8412480" y="20116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DDE5"/>
                </a:solidFill>
              </a:rPr>
              <a:t>Best-practice formula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32104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Shared need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25712" y="31363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9923B"/>
                </a:solidFill>
              </a:rPr>
              <a:t>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321040" y="354787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Connected ecosystem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25712" y="39776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9923B"/>
                </a:solidFill>
              </a:rPr>
              <a:t>+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321040" y="4389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Visible impact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7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3360" y="22859"/>
            <a:ext cx="12191695" cy="6858000"/>
          </a:xfrm>
          <a:prstGeom prst="rect">
            <a:avLst/>
          </a:prstGeom>
          <a:solidFill>
            <a:srgbClr val="7A1630"/>
          </a:solidFill>
          <a:ln w="12700">
            <a:solidFill>
              <a:srgbClr val="7A163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914400" y="10515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PMU NextGen EngageU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43000" y="18288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2DDE4"/>
                </a:solidFill>
              </a:rPr>
              <a:t>A connected ecosystem linking schools, universities, industries, and global partners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069080" y="2834640"/>
            <a:ext cx="4069080" cy="0"/>
          </a:xfrm>
          <a:prstGeom prst="line">
            <a:avLst/>
          </a:prstGeom>
          <a:noFill/>
          <a:ln w="50800">
            <a:solidFill>
              <a:srgbClr val="B9923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4640580" y="3451859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9923B"/>
                </a:solidFill>
              </a:rPr>
              <a:t>Thank you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9" name="Picture 8" descr="A logo with a sun and text&#10;&#10;AI-generated content may be incorrect.">
            <a:extLst>
              <a:ext uri="{FF2B5EF4-FFF2-40B4-BE49-F238E27FC236}">
                <a16:creationId xmlns:a16="http://schemas.microsoft.com/office/drawing/2014/main" id="{B5FEE9D2-028D-834D-A2A6-64464DD91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864" y="4235629"/>
            <a:ext cx="1822272" cy="18222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936</Words>
  <Application>Microsoft Office PowerPoint</Application>
  <PresentationFormat>Widescreen</PresentationFormat>
  <Paragraphs>167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Prince Mohammad Bin Fahd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PMU NextGen EngageU</dc:title>
  <dc:subject>PMU NextGen EngageU as a Connected Education and Industry Ecosystem</dc:subject>
  <dc:creator>PMU Student Affairs</dc:creator>
  <cp:lastModifiedBy>Siham Amna Shaddad</cp:lastModifiedBy>
  <cp:revision>5</cp:revision>
  <dcterms:created xsi:type="dcterms:W3CDTF">2026-07-25T11:33:19Z</dcterms:created>
  <dcterms:modified xsi:type="dcterms:W3CDTF">2026-07-26T04:33:15Z</dcterms:modified>
</cp:coreProperties>
</file>